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4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6031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6743" y="-1142971"/>
            <a:ext cx="3619410" cy="361941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42971" y="5143371"/>
            <a:ext cx="3619410" cy="3619410"/>
          </a:xfrm>
          <a:prstGeom prst="ellipse">
            <a:avLst/>
          </a:prstGeom>
          <a:solidFill>
            <a:srgbClr val="FBBF24">
              <a:alpha val="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r>
              <a:rPr lang="en-US" sz="900" dirty="0">
                <a:solidFill>
                  <a:srgbClr val="FFFFFF">
                    <a:alpha val="4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33387" y="838179"/>
            <a:ext cx="1112492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INFORMATION ARCHITECTURE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3387" y="1066773"/>
            <a:ext cx="8572286" cy="4571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50" b="1" kern="0" spc="-50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 정보 구조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33387" y="1600160"/>
            <a:ext cx="10477238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13" dirty="0">
                <a:solidFill>
                  <a:srgbClr val="FFFFFF">
                    <a:alpha val="5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4단계 사용자 여정으로 정리한 화면 구조 — Bottom Tab 4 + Stack 5개 · Soft Wall 권한 정책</a:t>
            </a:r>
            <a:endParaRPr lang="en-US" sz="1013" dirty="0"/>
          </a:p>
        </p:txBody>
      </p:sp>
      <p:sp>
        <p:nvSpPr>
          <p:cNvPr id="10" name="Shape 8"/>
          <p:cNvSpPr/>
          <p:nvPr/>
        </p:nvSpPr>
        <p:spPr>
          <a:xfrm>
            <a:off x="533387" y="2076398"/>
            <a:ext cx="2652646" cy="742931"/>
          </a:xfrm>
          <a:prstGeom prst="roundRect">
            <a:avLst>
              <a:gd name="adj" fmla="val 1538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3387" y="2209745"/>
            <a:ext cx="265264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kern="0" spc="18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 · DISCOVER</a:t>
            </a:r>
            <a:endParaRPr lang="en-US" sz="788" dirty="0"/>
          </a:p>
        </p:txBody>
      </p:sp>
      <p:sp>
        <p:nvSpPr>
          <p:cNvPr id="12" name="Text 10"/>
          <p:cNvSpPr/>
          <p:nvPr/>
        </p:nvSpPr>
        <p:spPr>
          <a:xfrm>
            <a:off x="533387" y="2381190"/>
            <a:ext cx="265264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발견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533387" y="2609785"/>
            <a:ext cx="265264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FFFFFF">
                    <a:alpha val="5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자치구·식당 탐색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533387" y="2914577"/>
            <a:ext cx="2652646" cy="1257269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6733" y="3047924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홈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2595498" y="3047924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17" name="Text 15"/>
          <p:cNvSpPr/>
          <p:nvPr/>
        </p:nvSpPr>
        <p:spPr>
          <a:xfrm>
            <a:off x="2595498" y="3047924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PUBLIC</a:t>
            </a:r>
            <a:endParaRPr lang="en-US" sz="638" dirty="0"/>
          </a:p>
        </p:txBody>
      </p:sp>
      <p:sp>
        <p:nvSpPr>
          <p:cNvPr id="18" name="Text 16"/>
          <p:cNvSpPr/>
          <p:nvPr/>
        </p:nvSpPr>
        <p:spPr>
          <a:xfrm>
            <a:off x="666733" y="3257469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(Tab)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85783" y="3476538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761981" y="3428914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자치구 위험 단계 Hero</a:t>
            </a:r>
            <a:endParaRPr lang="en-US" sz="788" dirty="0"/>
          </a:p>
        </p:txBody>
      </p:sp>
      <p:sp>
        <p:nvSpPr>
          <p:cNvPr id="21" name="Shape 19"/>
          <p:cNvSpPr/>
          <p:nvPr/>
        </p:nvSpPr>
        <p:spPr>
          <a:xfrm>
            <a:off x="685783" y="3619410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761981" y="3571786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환경 카드 (대기·기온·식중독)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685783" y="3762281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761981" y="3714657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메뉴 가이드 추천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685783" y="3905152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761981" y="3857529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검색바 진입</a:t>
            </a:r>
            <a:endParaRPr lang="en-US" sz="788" dirty="0"/>
          </a:p>
        </p:txBody>
      </p:sp>
      <p:sp>
        <p:nvSpPr>
          <p:cNvPr id="27" name="Shape 25"/>
          <p:cNvSpPr/>
          <p:nvPr/>
        </p:nvSpPr>
        <p:spPr>
          <a:xfrm>
            <a:off x="533387" y="4248044"/>
            <a:ext cx="2652646" cy="1114397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6733" y="4381390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지도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2595498" y="4381390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30" name="Text 28"/>
          <p:cNvSpPr/>
          <p:nvPr/>
        </p:nvSpPr>
        <p:spPr>
          <a:xfrm>
            <a:off x="2595498" y="4381390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PUBLIC</a:t>
            </a:r>
            <a:endParaRPr lang="en-US" sz="638" dirty="0"/>
          </a:p>
        </p:txBody>
      </p:sp>
      <p:sp>
        <p:nvSpPr>
          <p:cNvPr id="31" name="Text 29"/>
          <p:cNvSpPr/>
          <p:nvPr/>
        </p:nvSpPr>
        <p:spPr>
          <a:xfrm>
            <a:off x="666733" y="4590935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/map (Tab)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85783" y="4810005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61981" y="4762381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치즈 등급 마커</a:t>
            </a:r>
            <a:endParaRPr lang="en-US" sz="788" dirty="0"/>
          </a:p>
        </p:txBody>
      </p:sp>
      <p:sp>
        <p:nvSpPr>
          <p:cNvPr id="34" name="Shape 32"/>
          <p:cNvSpPr/>
          <p:nvPr/>
        </p:nvSpPr>
        <p:spPr>
          <a:xfrm>
            <a:off x="685783" y="4952876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761981" y="4905252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등급·카테고리 필터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85783" y="5095748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761981" y="5048124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바텀시트 식당 카드</a:t>
            </a:r>
            <a:endParaRPr lang="en-US" sz="788" dirty="0"/>
          </a:p>
        </p:txBody>
      </p:sp>
      <p:sp>
        <p:nvSpPr>
          <p:cNvPr id="38" name="Shape 36"/>
          <p:cNvSpPr/>
          <p:nvPr/>
        </p:nvSpPr>
        <p:spPr>
          <a:xfrm>
            <a:off x="3357479" y="2076398"/>
            <a:ext cx="2652646" cy="742931"/>
          </a:xfrm>
          <a:prstGeom prst="roundRect">
            <a:avLst>
              <a:gd name="adj" fmla="val 1538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57479" y="2209745"/>
            <a:ext cx="265264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kern="0" spc="18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 · VERIFY</a:t>
            </a:r>
            <a:endParaRPr lang="en-US" sz="788" dirty="0"/>
          </a:p>
        </p:txBody>
      </p:sp>
      <p:sp>
        <p:nvSpPr>
          <p:cNvPr id="40" name="Text 38"/>
          <p:cNvSpPr/>
          <p:nvPr/>
        </p:nvSpPr>
        <p:spPr>
          <a:xfrm>
            <a:off x="3357479" y="2381190"/>
            <a:ext cx="265264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검증</a:t>
            </a:r>
            <a:endParaRPr lang="en-US" sz="1125" dirty="0"/>
          </a:p>
        </p:txBody>
      </p:sp>
      <p:sp>
        <p:nvSpPr>
          <p:cNvPr id="41" name="Text 39"/>
          <p:cNvSpPr/>
          <p:nvPr/>
        </p:nvSpPr>
        <p:spPr>
          <a:xfrm>
            <a:off x="3357479" y="2609785"/>
            <a:ext cx="265264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FFFFFF">
                    <a:alpha val="5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신뢰도 확인</a:t>
            </a:r>
            <a:endParaRPr lang="en-US" sz="788" dirty="0"/>
          </a:p>
        </p:txBody>
      </p:sp>
      <p:sp>
        <p:nvSpPr>
          <p:cNvPr id="42" name="Shape 40"/>
          <p:cNvSpPr/>
          <p:nvPr/>
        </p:nvSpPr>
        <p:spPr>
          <a:xfrm>
            <a:off x="3357479" y="2914577"/>
            <a:ext cx="2652646" cy="1114397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490825" y="3047924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검색 결과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5419590" y="3047924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45" name="Text 43"/>
          <p:cNvSpPr/>
          <p:nvPr/>
        </p:nvSpPr>
        <p:spPr>
          <a:xfrm>
            <a:off x="5419590" y="3047924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PUBLIC</a:t>
            </a:r>
            <a:endParaRPr lang="en-US" sz="638" dirty="0"/>
          </a:p>
        </p:txBody>
      </p:sp>
      <p:sp>
        <p:nvSpPr>
          <p:cNvPr id="46" name="Text 44"/>
          <p:cNvSpPr/>
          <p:nvPr/>
        </p:nvSpPr>
        <p:spPr>
          <a:xfrm>
            <a:off x="3490825" y="3257469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/search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509875" y="3476538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3586073" y="3428914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자동완성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3509875" y="3619410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3586073" y="3571786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카테고리 칩</a:t>
            </a:r>
            <a:endParaRPr lang="en-US" sz="788" dirty="0"/>
          </a:p>
        </p:txBody>
      </p:sp>
      <p:sp>
        <p:nvSpPr>
          <p:cNvPr id="51" name="Shape 49"/>
          <p:cNvSpPr/>
          <p:nvPr/>
        </p:nvSpPr>
        <p:spPr>
          <a:xfrm>
            <a:off x="3509875" y="3762281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3586073" y="3714657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결과 리스트 + 등급 미리보기</a:t>
            </a:r>
            <a:endParaRPr lang="en-US" sz="788" dirty="0"/>
          </a:p>
        </p:txBody>
      </p:sp>
      <p:sp>
        <p:nvSpPr>
          <p:cNvPr id="53" name="Shape 51"/>
          <p:cNvSpPr/>
          <p:nvPr/>
        </p:nvSpPr>
        <p:spPr>
          <a:xfrm>
            <a:off x="3357479" y="4105172"/>
            <a:ext cx="2652646" cy="140014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490825" y="4238519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상세 보고서</a:t>
            </a:r>
            <a:endParaRPr lang="en-US" sz="975" dirty="0"/>
          </a:p>
        </p:txBody>
      </p:sp>
      <p:sp>
        <p:nvSpPr>
          <p:cNvPr id="55" name="Shape 53"/>
          <p:cNvSpPr/>
          <p:nvPr/>
        </p:nvSpPr>
        <p:spPr>
          <a:xfrm>
            <a:off x="5419590" y="4238519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56" name="Text 54"/>
          <p:cNvSpPr/>
          <p:nvPr/>
        </p:nvSpPr>
        <p:spPr>
          <a:xfrm>
            <a:off x="5419590" y="4238519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PUBLIC</a:t>
            </a:r>
            <a:endParaRPr lang="en-US" sz="638" dirty="0"/>
          </a:p>
        </p:txBody>
      </p:sp>
      <p:sp>
        <p:nvSpPr>
          <p:cNvPr id="57" name="Text 55"/>
          <p:cNvSpPr/>
          <p:nvPr/>
        </p:nvSpPr>
        <p:spPr>
          <a:xfrm>
            <a:off x="3490825" y="4448064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/restaurant/[id]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509875" y="4667133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3586073" y="4619510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치즈 등급 Hero (70+15+15)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3509875" y="4810005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3586073" y="4762381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5축 레이더 차트</a:t>
            </a:r>
            <a:endParaRPr lang="en-US" sz="788" dirty="0"/>
          </a:p>
        </p:txBody>
      </p:sp>
      <p:sp>
        <p:nvSpPr>
          <p:cNvPr id="62" name="Shape 60"/>
          <p:cNvSpPr/>
          <p:nvPr/>
        </p:nvSpPr>
        <p:spPr>
          <a:xfrm>
            <a:off x="3509875" y="4952876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3586073" y="4905252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리뷰 · 답글</a:t>
            </a:r>
            <a:endParaRPr lang="en-US" sz="788" dirty="0"/>
          </a:p>
        </p:txBody>
      </p:sp>
      <p:sp>
        <p:nvSpPr>
          <p:cNvPr id="64" name="Shape 62"/>
          <p:cNvSpPr/>
          <p:nvPr/>
        </p:nvSpPr>
        <p:spPr>
          <a:xfrm>
            <a:off x="3509875" y="5095748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3586073" y="5048124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메뉴 가이드 모달</a:t>
            </a:r>
            <a:endParaRPr lang="en-US" sz="788" dirty="0"/>
          </a:p>
        </p:txBody>
      </p:sp>
      <p:sp>
        <p:nvSpPr>
          <p:cNvPr id="66" name="Shape 64"/>
          <p:cNvSpPr/>
          <p:nvPr/>
        </p:nvSpPr>
        <p:spPr>
          <a:xfrm>
            <a:off x="3509875" y="5238619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3586073" y="5190995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외부 앱 바 (배민·요기요)</a:t>
            </a:r>
            <a:endParaRPr lang="en-US" sz="788" dirty="0"/>
          </a:p>
        </p:txBody>
      </p:sp>
      <p:sp>
        <p:nvSpPr>
          <p:cNvPr id="68" name="Shape 66"/>
          <p:cNvSpPr/>
          <p:nvPr/>
        </p:nvSpPr>
        <p:spPr>
          <a:xfrm>
            <a:off x="6181570" y="2076398"/>
            <a:ext cx="2652646" cy="742931"/>
          </a:xfrm>
          <a:prstGeom prst="roundRect">
            <a:avLst>
              <a:gd name="adj" fmla="val 1538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81570" y="2209745"/>
            <a:ext cx="265264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kern="0" spc="18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 · ENGAGE</a:t>
            </a:r>
            <a:endParaRPr lang="en-US" sz="788" dirty="0"/>
          </a:p>
        </p:txBody>
      </p:sp>
      <p:sp>
        <p:nvSpPr>
          <p:cNvPr id="70" name="Text 68"/>
          <p:cNvSpPr/>
          <p:nvPr/>
        </p:nvSpPr>
        <p:spPr>
          <a:xfrm>
            <a:off x="6181570" y="2381190"/>
            <a:ext cx="265264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참여</a:t>
            </a:r>
            <a:endParaRPr lang="en-US" sz="1125" dirty="0"/>
          </a:p>
        </p:txBody>
      </p:sp>
      <p:sp>
        <p:nvSpPr>
          <p:cNvPr id="71" name="Text 69"/>
          <p:cNvSpPr/>
          <p:nvPr/>
        </p:nvSpPr>
        <p:spPr>
          <a:xfrm>
            <a:off x="6181570" y="2609785"/>
            <a:ext cx="265264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FFFFFF">
                    <a:alpha val="5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리뷰·좋아요 기록</a:t>
            </a:r>
            <a:endParaRPr lang="en-US" sz="788" dirty="0"/>
          </a:p>
        </p:txBody>
      </p:sp>
      <p:sp>
        <p:nvSpPr>
          <p:cNvPr id="72" name="Shape 70"/>
          <p:cNvSpPr/>
          <p:nvPr/>
        </p:nvSpPr>
        <p:spPr>
          <a:xfrm>
            <a:off x="6181570" y="2914577"/>
            <a:ext cx="2652646" cy="1114397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6314917" y="3047924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리뷰 작성</a:t>
            </a:r>
            <a:endParaRPr lang="en-US" sz="975" dirty="0"/>
          </a:p>
        </p:txBody>
      </p:sp>
      <p:sp>
        <p:nvSpPr>
          <p:cNvPr id="74" name="Shape 72"/>
          <p:cNvSpPr/>
          <p:nvPr/>
        </p:nvSpPr>
        <p:spPr>
          <a:xfrm>
            <a:off x="8243681" y="3047924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</p:sp>
      <p:sp>
        <p:nvSpPr>
          <p:cNvPr id="75" name="Text 73"/>
          <p:cNvSpPr/>
          <p:nvPr/>
        </p:nvSpPr>
        <p:spPr>
          <a:xfrm>
            <a:off x="8243681" y="3047924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1E3A8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AUTH</a:t>
            </a:r>
            <a:endParaRPr lang="en-US" sz="638" dirty="0"/>
          </a:p>
        </p:txBody>
      </p:sp>
      <p:sp>
        <p:nvSpPr>
          <p:cNvPr id="76" name="Text 74"/>
          <p:cNvSpPr/>
          <p:nvPr/>
        </p:nvSpPr>
        <p:spPr>
          <a:xfrm>
            <a:off x="6314917" y="3257469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/review/[id]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33967" y="3476538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78" name="Text 76"/>
          <p:cNvSpPr/>
          <p:nvPr/>
        </p:nvSpPr>
        <p:spPr>
          <a:xfrm>
            <a:off x="6410165" y="3428914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4축 별점 (테이블·음식·직원·화장실)</a:t>
            </a:r>
            <a:endParaRPr lang="en-US" sz="788" dirty="0"/>
          </a:p>
        </p:txBody>
      </p:sp>
      <p:sp>
        <p:nvSpPr>
          <p:cNvPr id="79" name="Shape 77"/>
          <p:cNvSpPr/>
          <p:nvPr/>
        </p:nvSpPr>
        <p:spPr>
          <a:xfrm>
            <a:off x="6333967" y="3619410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80" name="Text 78"/>
          <p:cNvSpPr/>
          <p:nvPr/>
        </p:nvSpPr>
        <p:spPr>
          <a:xfrm>
            <a:off x="6410165" y="3571786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방문 시점</a:t>
            </a:r>
            <a:endParaRPr lang="en-US" sz="788" dirty="0"/>
          </a:p>
        </p:txBody>
      </p:sp>
      <p:sp>
        <p:nvSpPr>
          <p:cNvPr id="81" name="Shape 79"/>
          <p:cNvSpPr/>
          <p:nvPr/>
        </p:nvSpPr>
        <p:spPr>
          <a:xfrm>
            <a:off x="6333967" y="3762281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82" name="Text 80"/>
          <p:cNvSpPr/>
          <p:nvPr/>
        </p:nvSpPr>
        <p:spPr>
          <a:xfrm>
            <a:off x="6410165" y="3714657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한줄평 · 사진</a:t>
            </a:r>
            <a:endParaRPr lang="en-US" sz="788" dirty="0"/>
          </a:p>
        </p:txBody>
      </p:sp>
      <p:sp>
        <p:nvSpPr>
          <p:cNvPr id="83" name="Shape 81"/>
          <p:cNvSpPr/>
          <p:nvPr/>
        </p:nvSpPr>
        <p:spPr>
          <a:xfrm>
            <a:off x="6181570" y="4105172"/>
            <a:ext cx="2652646" cy="97152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6314917" y="4238519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좋아요</a:t>
            </a:r>
            <a:endParaRPr lang="en-US" sz="975" dirty="0"/>
          </a:p>
        </p:txBody>
      </p:sp>
      <p:sp>
        <p:nvSpPr>
          <p:cNvPr id="85" name="Shape 83"/>
          <p:cNvSpPr/>
          <p:nvPr/>
        </p:nvSpPr>
        <p:spPr>
          <a:xfrm>
            <a:off x="8243681" y="4238519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</p:sp>
      <p:sp>
        <p:nvSpPr>
          <p:cNvPr id="86" name="Text 84"/>
          <p:cNvSpPr/>
          <p:nvPr/>
        </p:nvSpPr>
        <p:spPr>
          <a:xfrm>
            <a:off x="8243681" y="4238519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1E3A8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AUTH</a:t>
            </a:r>
            <a:endParaRPr lang="en-US" sz="638" dirty="0"/>
          </a:p>
        </p:txBody>
      </p:sp>
      <p:sp>
        <p:nvSpPr>
          <p:cNvPr id="87" name="Text 85"/>
          <p:cNvSpPr/>
          <p:nvPr/>
        </p:nvSpPr>
        <p:spPr>
          <a:xfrm>
            <a:off x="6314917" y="4448064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/favorites (Tab)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6333967" y="4667133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89" name="Text 87"/>
          <p:cNvSpPr/>
          <p:nvPr/>
        </p:nvSpPr>
        <p:spPr>
          <a:xfrm>
            <a:off x="6410165" y="4619510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등급별 분포</a:t>
            </a:r>
            <a:endParaRPr lang="en-US" sz="788" dirty="0"/>
          </a:p>
        </p:txBody>
      </p:sp>
      <p:sp>
        <p:nvSpPr>
          <p:cNvPr id="90" name="Shape 88"/>
          <p:cNvSpPr/>
          <p:nvPr/>
        </p:nvSpPr>
        <p:spPr>
          <a:xfrm>
            <a:off x="6333967" y="4810005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91" name="Text 89"/>
          <p:cNvSpPr/>
          <p:nvPr/>
        </p:nvSpPr>
        <p:spPr>
          <a:xfrm>
            <a:off x="6410165" y="4762381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저장 식당 리스트</a:t>
            </a:r>
            <a:endParaRPr lang="en-US" sz="788" dirty="0"/>
          </a:p>
        </p:txBody>
      </p:sp>
      <p:sp>
        <p:nvSpPr>
          <p:cNvPr id="92" name="Shape 90"/>
          <p:cNvSpPr/>
          <p:nvPr/>
        </p:nvSpPr>
        <p:spPr>
          <a:xfrm>
            <a:off x="9005662" y="2076398"/>
            <a:ext cx="2652646" cy="742931"/>
          </a:xfrm>
          <a:prstGeom prst="roundRect">
            <a:avLst>
              <a:gd name="adj" fmla="val 1538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005662" y="2209745"/>
            <a:ext cx="265264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kern="0" spc="18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04 · MANAGE</a:t>
            </a:r>
            <a:endParaRPr lang="en-US" sz="788" dirty="0"/>
          </a:p>
        </p:txBody>
      </p:sp>
      <p:sp>
        <p:nvSpPr>
          <p:cNvPr id="94" name="Text 92"/>
          <p:cNvSpPr/>
          <p:nvPr/>
        </p:nvSpPr>
        <p:spPr>
          <a:xfrm>
            <a:off x="9005662" y="2381190"/>
            <a:ext cx="265264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개인화</a:t>
            </a:r>
            <a:endParaRPr lang="en-US" sz="1125" dirty="0"/>
          </a:p>
        </p:txBody>
      </p:sp>
      <p:sp>
        <p:nvSpPr>
          <p:cNvPr id="95" name="Text 93"/>
          <p:cNvSpPr/>
          <p:nvPr/>
        </p:nvSpPr>
        <p:spPr>
          <a:xfrm>
            <a:off x="9005662" y="2609785"/>
            <a:ext cx="265264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FFFFFF">
                    <a:alpha val="5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내정보·사장님 운영</a:t>
            </a:r>
            <a:endParaRPr lang="en-US" sz="788" dirty="0"/>
          </a:p>
        </p:txBody>
      </p:sp>
      <p:sp>
        <p:nvSpPr>
          <p:cNvPr id="96" name="Shape 94"/>
          <p:cNvSpPr/>
          <p:nvPr/>
        </p:nvSpPr>
        <p:spPr>
          <a:xfrm>
            <a:off x="9005662" y="2914577"/>
            <a:ext cx="2652646" cy="1114397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7" name="Text 95"/>
          <p:cNvSpPr/>
          <p:nvPr/>
        </p:nvSpPr>
        <p:spPr>
          <a:xfrm>
            <a:off x="9139009" y="3047924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내정보</a:t>
            </a:r>
            <a:endParaRPr lang="en-US" sz="975" dirty="0"/>
          </a:p>
        </p:txBody>
      </p:sp>
      <p:sp>
        <p:nvSpPr>
          <p:cNvPr id="98" name="Shape 96"/>
          <p:cNvSpPr/>
          <p:nvPr/>
        </p:nvSpPr>
        <p:spPr>
          <a:xfrm>
            <a:off x="11067773" y="3047924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</p:sp>
      <p:sp>
        <p:nvSpPr>
          <p:cNvPr id="99" name="Text 97"/>
          <p:cNvSpPr/>
          <p:nvPr/>
        </p:nvSpPr>
        <p:spPr>
          <a:xfrm>
            <a:off x="11067773" y="3047924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1E3A8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AUTH</a:t>
            </a:r>
            <a:endParaRPr lang="en-US" sz="638" dirty="0"/>
          </a:p>
        </p:txBody>
      </p:sp>
      <p:sp>
        <p:nvSpPr>
          <p:cNvPr id="100" name="Text 98"/>
          <p:cNvSpPr/>
          <p:nvPr/>
        </p:nvSpPr>
        <p:spPr>
          <a:xfrm>
            <a:off x="9139009" y="3257469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/profile (Tab)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9158059" y="3476538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102" name="Text 100"/>
          <p:cNvSpPr/>
          <p:nvPr/>
        </p:nvSpPr>
        <p:spPr>
          <a:xfrm>
            <a:off x="9234257" y="3428914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내 리뷰 · 좋아요</a:t>
            </a:r>
            <a:endParaRPr lang="en-US" sz="788" dirty="0"/>
          </a:p>
        </p:txBody>
      </p:sp>
      <p:sp>
        <p:nvSpPr>
          <p:cNvPr id="103" name="Shape 101"/>
          <p:cNvSpPr/>
          <p:nvPr/>
        </p:nvSpPr>
        <p:spPr>
          <a:xfrm>
            <a:off x="9158059" y="3619410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104" name="Text 102"/>
          <p:cNvSpPr/>
          <p:nvPr/>
        </p:nvSpPr>
        <p:spPr>
          <a:xfrm>
            <a:off x="9234257" y="3571786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가이드 라이브러리</a:t>
            </a:r>
            <a:endParaRPr lang="en-US" sz="788" dirty="0"/>
          </a:p>
        </p:txBody>
      </p:sp>
      <p:sp>
        <p:nvSpPr>
          <p:cNvPr id="105" name="Shape 103"/>
          <p:cNvSpPr/>
          <p:nvPr/>
        </p:nvSpPr>
        <p:spPr>
          <a:xfrm>
            <a:off x="9158059" y="3762281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106" name="Text 104"/>
          <p:cNvSpPr/>
          <p:nvPr/>
        </p:nvSpPr>
        <p:spPr>
          <a:xfrm>
            <a:off x="9234257" y="3714657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사장님 모드 진입</a:t>
            </a:r>
            <a:endParaRPr lang="en-US" sz="788" dirty="0"/>
          </a:p>
        </p:txBody>
      </p:sp>
      <p:sp>
        <p:nvSpPr>
          <p:cNvPr id="107" name="Shape 105"/>
          <p:cNvSpPr/>
          <p:nvPr/>
        </p:nvSpPr>
        <p:spPr>
          <a:xfrm>
            <a:off x="9005662" y="4105172"/>
            <a:ext cx="2652646" cy="1114397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8" name="Text 106"/>
          <p:cNvSpPr/>
          <p:nvPr/>
        </p:nvSpPr>
        <p:spPr>
          <a:xfrm>
            <a:off x="9139009" y="4238519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사장님 인증·운영</a:t>
            </a:r>
            <a:endParaRPr lang="en-US" sz="975" dirty="0"/>
          </a:p>
        </p:txBody>
      </p:sp>
      <p:sp>
        <p:nvSpPr>
          <p:cNvPr id="109" name="Shape 107"/>
          <p:cNvSpPr/>
          <p:nvPr/>
        </p:nvSpPr>
        <p:spPr>
          <a:xfrm>
            <a:off x="11067773" y="4238519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10" name="Text 108"/>
          <p:cNvSpPr/>
          <p:nvPr/>
        </p:nvSpPr>
        <p:spPr>
          <a:xfrm>
            <a:off x="11067773" y="4238519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92400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OWNER</a:t>
            </a:r>
            <a:endParaRPr lang="en-US" sz="638" dirty="0"/>
          </a:p>
        </p:txBody>
      </p:sp>
      <p:sp>
        <p:nvSpPr>
          <p:cNvPr id="111" name="Text 109"/>
          <p:cNvSpPr/>
          <p:nvPr/>
        </p:nvSpPr>
        <p:spPr>
          <a:xfrm>
            <a:off x="9139009" y="4448064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/owner/apply · /my-stores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9158059" y="4667133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113" name="Text 111"/>
          <p:cNvSpPr/>
          <p:nvPr/>
        </p:nvSpPr>
        <p:spPr>
          <a:xfrm>
            <a:off x="9234257" y="4619510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사업자번호 인증</a:t>
            </a:r>
            <a:endParaRPr lang="en-US" sz="788" dirty="0"/>
          </a:p>
        </p:txBody>
      </p:sp>
      <p:sp>
        <p:nvSpPr>
          <p:cNvPr id="114" name="Shape 112"/>
          <p:cNvSpPr/>
          <p:nvPr/>
        </p:nvSpPr>
        <p:spPr>
          <a:xfrm>
            <a:off x="9158059" y="4810005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115" name="Text 113"/>
          <p:cNvSpPr/>
          <p:nvPr/>
        </p:nvSpPr>
        <p:spPr>
          <a:xfrm>
            <a:off x="9234257" y="4762381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청소 인증 게시</a:t>
            </a:r>
            <a:endParaRPr lang="en-US" sz="788" dirty="0"/>
          </a:p>
        </p:txBody>
      </p:sp>
      <p:sp>
        <p:nvSpPr>
          <p:cNvPr id="116" name="Shape 114"/>
          <p:cNvSpPr/>
          <p:nvPr/>
        </p:nvSpPr>
        <p:spPr>
          <a:xfrm>
            <a:off x="9158059" y="4952876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117" name="Text 115"/>
          <p:cNvSpPr/>
          <p:nvPr/>
        </p:nvSpPr>
        <p:spPr>
          <a:xfrm>
            <a:off x="9234257" y="4905252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리뷰 답글</a:t>
            </a:r>
            <a:endParaRPr lang="en-US" sz="788" dirty="0"/>
          </a:p>
        </p:txBody>
      </p:sp>
      <p:sp>
        <p:nvSpPr>
          <p:cNvPr id="118" name="Text 116"/>
          <p:cNvSpPr/>
          <p:nvPr/>
        </p:nvSpPr>
        <p:spPr>
          <a:xfrm>
            <a:off x="533387" y="6305392"/>
            <a:ext cx="1047724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140" dirty="0">
                <a:solidFill>
                  <a:srgbClr val="FBBF2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USER FLOW</a:t>
            </a:r>
            <a:endParaRPr lang="en-US" sz="825" dirty="0"/>
          </a:p>
        </p:txBody>
      </p:sp>
      <p:sp>
        <p:nvSpPr>
          <p:cNvPr id="119" name="Text 117"/>
          <p:cNvSpPr/>
          <p:nvPr/>
        </p:nvSpPr>
        <p:spPr>
          <a:xfrm>
            <a:off x="1904952" y="6305392"/>
            <a:ext cx="685782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홈·지도 </a:t>
            </a:r>
            <a:r>
              <a:rPr lang="en-US" sz="8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</a:t>
            </a: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상세 보고서 </a:t>
            </a:r>
            <a:r>
              <a:rPr lang="en-US" sz="8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</a:t>
            </a: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리뷰·좋아요 </a:t>
            </a:r>
            <a:r>
              <a:rPr lang="en-US" sz="8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</a:t>
            </a: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내정보·사장님</a:t>
            </a:r>
            <a:endParaRPr lang="en-US" sz="825" dirty="0"/>
          </a:p>
        </p:txBody>
      </p:sp>
      <p:sp>
        <p:nvSpPr>
          <p:cNvPr id="120" name="Text 118"/>
          <p:cNvSpPr/>
          <p:nvPr/>
        </p:nvSpPr>
        <p:spPr>
          <a:xfrm>
            <a:off x="9048524" y="6305392"/>
            <a:ext cx="257168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 </a:t>
            </a: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Tabs   </a:t>
            </a:r>
            <a:r>
              <a:rPr lang="en-US" sz="8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 </a:t>
            </a: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Stack   </a:t>
            </a:r>
            <a:r>
              <a:rPr lang="en-US" sz="8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95% </a:t>
            </a: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Public</a:t>
            </a:r>
            <a:endParaRPr lang="en-US" sz="8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6743" y="-1142971"/>
            <a:ext cx="3619410" cy="3619410"/>
          </a:xfrm>
          <a:prstGeom prst="ellipse">
            <a:avLst/>
          </a:prstGeom>
          <a:solidFill>
            <a:srgbClr val="22C55E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42971" y="5143371"/>
            <a:ext cx="3619410" cy="3619410"/>
          </a:xfrm>
          <a:prstGeom prst="ellipse">
            <a:avLst/>
          </a:prstGeom>
          <a:solidFill>
            <a:srgbClr val="FBBF2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33387" y="838179"/>
            <a:ext cx="1112492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INFORMATION ARCHITECTURE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3387" y="1066773"/>
            <a:ext cx="8572286" cy="4571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50" b="1" kern="0" spc="-5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 정보 구조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33387" y="1600160"/>
            <a:ext cx="10477238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1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4단계 사용자 여정으로 정리한 화면 구조 — Bottom Tab 4 + Stack 5개 · Soft Wall 권한 정책</a:t>
            </a:r>
            <a:endParaRPr lang="en-US" sz="1013" dirty="0"/>
          </a:p>
        </p:txBody>
      </p:sp>
      <p:sp>
        <p:nvSpPr>
          <p:cNvPr id="10" name="Shape 8"/>
          <p:cNvSpPr/>
          <p:nvPr/>
        </p:nvSpPr>
        <p:spPr>
          <a:xfrm>
            <a:off x="533387" y="2076398"/>
            <a:ext cx="2652646" cy="742931"/>
          </a:xfrm>
          <a:prstGeom prst="roundRect">
            <a:avLst>
              <a:gd name="adj" fmla="val 15385"/>
            </a:avLst>
          </a:prstGeom>
          <a:solidFill>
            <a:srgbClr val="DCFCE7"/>
          </a:solidFill>
          <a:ln w="12700">
            <a:solidFill>
              <a:srgbClr val="22C55E">
                <a:alpha val="2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3387" y="2209745"/>
            <a:ext cx="265264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kern="0" spc="18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 · DISCOVER</a:t>
            </a:r>
            <a:endParaRPr lang="en-US" sz="788" dirty="0"/>
          </a:p>
        </p:txBody>
      </p:sp>
      <p:sp>
        <p:nvSpPr>
          <p:cNvPr id="12" name="Text 10"/>
          <p:cNvSpPr/>
          <p:nvPr/>
        </p:nvSpPr>
        <p:spPr>
          <a:xfrm>
            <a:off x="533387" y="2381190"/>
            <a:ext cx="265264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발견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533387" y="2609785"/>
            <a:ext cx="265264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자치구·식당 탐색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533387" y="2914577"/>
            <a:ext cx="2652646" cy="1257269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6733" y="3047924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홈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2595498" y="3047924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17" name="Text 15"/>
          <p:cNvSpPr/>
          <p:nvPr/>
        </p:nvSpPr>
        <p:spPr>
          <a:xfrm>
            <a:off x="2595498" y="3047924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PUBLIC</a:t>
            </a:r>
            <a:endParaRPr lang="en-US" sz="638" dirty="0"/>
          </a:p>
        </p:txBody>
      </p:sp>
      <p:sp>
        <p:nvSpPr>
          <p:cNvPr id="18" name="Text 16"/>
          <p:cNvSpPr/>
          <p:nvPr/>
        </p:nvSpPr>
        <p:spPr>
          <a:xfrm>
            <a:off x="666733" y="3257469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(Tab)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85783" y="3476538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761981" y="3428914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자치구 위험 단계 Hero</a:t>
            </a:r>
            <a:endParaRPr lang="en-US" sz="788" dirty="0"/>
          </a:p>
        </p:txBody>
      </p:sp>
      <p:sp>
        <p:nvSpPr>
          <p:cNvPr id="21" name="Shape 19"/>
          <p:cNvSpPr/>
          <p:nvPr/>
        </p:nvSpPr>
        <p:spPr>
          <a:xfrm>
            <a:off x="685783" y="3619410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761981" y="3571786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환경 카드 (대기·기온·식중독)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685783" y="3762281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761981" y="3714657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메뉴 가이드 추천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685783" y="3905152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761981" y="3857529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검색바 진입</a:t>
            </a:r>
            <a:endParaRPr lang="en-US" sz="788" dirty="0"/>
          </a:p>
        </p:txBody>
      </p:sp>
      <p:sp>
        <p:nvSpPr>
          <p:cNvPr id="27" name="Shape 25"/>
          <p:cNvSpPr/>
          <p:nvPr/>
        </p:nvSpPr>
        <p:spPr>
          <a:xfrm>
            <a:off x="533387" y="4248044"/>
            <a:ext cx="2652646" cy="1114397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6733" y="4381390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지도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2595498" y="4381390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30" name="Text 28"/>
          <p:cNvSpPr/>
          <p:nvPr/>
        </p:nvSpPr>
        <p:spPr>
          <a:xfrm>
            <a:off x="2595498" y="4381390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PUBLIC</a:t>
            </a:r>
            <a:endParaRPr lang="en-US" sz="638" dirty="0"/>
          </a:p>
        </p:txBody>
      </p:sp>
      <p:sp>
        <p:nvSpPr>
          <p:cNvPr id="31" name="Text 29"/>
          <p:cNvSpPr/>
          <p:nvPr/>
        </p:nvSpPr>
        <p:spPr>
          <a:xfrm>
            <a:off x="666733" y="4590935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/map (Tab)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85783" y="4810005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61981" y="4762381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치즈 등급 마커</a:t>
            </a:r>
            <a:endParaRPr lang="en-US" sz="788" dirty="0"/>
          </a:p>
        </p:txBody>
      </p:sp>
      <p:sp>
        <p:nvSpPr>
          <p:cNvPr id="34" name="Shape 32"/>
          <p:cNvSpPr/>
          <p:nvPr/>
        </p:nvSpPr>
        <p:spPr>
          <a:xfrm>
            <a:off x="685783" y="4952876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761981" y="4905252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등급·카테고리 필터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85783" y="5095748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761981" y="5048124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바텀시트 식당 카드</a:t>
            </a:r>
            <a:endParaRPr lang="en-US" sz="788" dirty="0"/>
          </a:p>
        </p:txBody>
      </p:sp>
      <p:sp>
        <p:nvSpPr>
          <p:cNvPr id="38" name="Shape 36"/>
          <p:cNvSpPr/>
          <p:nvPr/>
        </p:nvSpPr>
        <p:spPr>
          <a:xfrm>
            <a:off x="3357479" y="2076398"/>
            <a:ext cx="2652646" cy="742931"/>
          </a:xfrm>
          <a:prstGeom prst="roundRect">
            <a:avLst>
              <a:gd name="adj" fmla="val 15385"/>
            </a:avLst>
          </a:prstGeom>
          <a:solidFill>
            <a:srgbClr val="DCFCE7"/>
          </a:solidFill>
          <a:ln w="12700">
            <a:solidFill>
              <a:srgbClr val="22C55E">
                <a:alpha val="22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57479" y="2209745"/>
            <a:ext cx="265264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kern="0" spc="18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 · VERIFY</a:t>
            </a:r>
            <a:endParaRPr lang="en-US" sz="788" dirty="0"/>
          </a:p>
        </p:txBody>
      </p:sp>
      <p:sp>
        <p:nvSpPr>
          <p:cNvPr id="40" name="Text 38"/>
          <p:cNvSpPr/>
          <p:nvPr/>
        </p:nvSpPr>
        <p:spPr>
          <a:xfrm>
            <a:off x="3357479" y="2381190"/>
            <a:ext cx="265264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검증</a:t>
            </a:r>
            <a:endParaRPr lang="en-US" sz="1125" dirty="0"/>
          </a:p>
        </p:txBody>
      </p:sp>
      <p:sp>
        <p:nvSpPr>
          <p:cNvPr id="41" name="Text 39"/>
          <p:cNvSpPr/>
          <p:nvPr/>
        </p:nvSpPr>
        <p:spPr>
          <a:xfrm>
            <a:off x="3357479" y="2609785"/>
            <a:ext cx="265264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신뢰도 확인</a:t>
            </a:r>
            <a:endParaRPr lang="en-US" sz="788" dirty="0"/>
          </a:p>
        </p:txBody>
      </p:sp>
      <p:sp>
        <p:nvSpPr>
          <p:cNvPr id="42" name="Shape 40"/>
          <p:cNvSpPr/>
          <p:nvPr/>
        </p:nvSpPr>
        <p:spPr>
          <a:xfrm>
            <a:off x="3357479" y="2914577"/>
            <a:ext cx="2652646" cy="1114397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6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490825" y="3047924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검색 결과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5419590" y="3047924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45" name="Text 43"/>
          <p:cNvSpPr/>
          <p:nvPr/>
        </p:nvSpPr>
        <p:spPr>
          <a:xfrm>
            <a:off x="5419590" y="3047924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PUBLIC</a:t>
            </a:r>
            <a:endParaRPr lang="en-US" sz="638" dirty="0"/>
          </a:p>
        </p:txBody>
      </p:sp>
      <p:sp>
        <p:nvSpPr>
          <p:cNvPr id="46" name="Text 44"/>
          <p:cNvSpPr/>
          <p:nvPr/>
        </p:nvSpPr>
        <p:spPr>
          <a:xfrm>
            <a:off x="3490825" y="3257469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/search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509875" y="3476538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3586073" y="3428914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자동완성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3509875" y="3619410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3586073" y="3571786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카테고리 칩</a:t>
            </a:r>
            <a:endParaRPr lang="en-US" sz="788" dirty="0"/>
          </a:p>
        </p:txBody>
      </p:sp>
      <p:sp>
        <p:nvSpPr>
          <p:cNvPr id="51" name="Shape 49"/>
          <p:cNvSpPr/>
          <p:nvPr/>
        </p:nvSpPr>
        <p:spPr>
          <a:xfrm>
            <a:off x="3509875" y="3762281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3586073" y="3714657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결과 리스트 + 등급 미리보기</a:t>
            </a:r>
            <a:endParaRPr lang="en-US" sz="788" dirty="0"/>
          </a:p>
        </p:txBody>
      </p:sp>
      <p:sp>
        <p:nvSpPr>
          <p:cNvPr id="53" name="Shape 51"/>
          <p:cNvSpPr/>
          <p:nvPr/>
        </p:nvSpPr>
        <p:spPr>
          <a:xfrm>
            <a:off x="3357479" y="4105172"/>
            <a:ext cx="2652646" cy="140014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6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490825" y="4238519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상세 보고서</a:t>
            </a:r>
            <a:endParaRPr lang="en-US" sz="975" dirty="0"/>
          </a:p>
        </p:txBody>
      </p:sp>
      <p:sp>
        <p:nvSpPr>
          <p:cNvPr id="55" name="Shape 53"/>
          <p:cNvSpPr/>
          <p:nvPr/>
        </p:nvSpPr>
        <p:spPr>
          <a:xfrm>
            <a:off x="5419590" y="4238519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56" name="Text 54"/>
          <p:cNvSpPr/>
          <p:nvPr/>
        </p:nvSpPr>
        <p:spPr>
          <a:xfrm>
            <a:off x="5419590" y="4238519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PUBLIC</a:t>
            </a:r>
            <a:endParaRPr lang="en-US" sz="638" dirty="0"/>
          </a:p>
        </p:txBody>
      </p:sp>
      <p:sp>
        <p:nvSpPr>
          <p:cNvPr id="57" name="Text 55"/>
          <p:cNvSpPr/>
          <p:nvPr/>
        </p:nvSpPr>
        <p:spPr>
          <a:xfrm>
            <a:off x="3490825" y="4448064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/restaurant/[id]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509875" y="4667133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3586073" y="4619510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치즈 등급 Hero (70+15+15)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3509875" y="4810005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3586073" y="4762381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5축 레이더 차트</a:t>
            </a:r>
            <a:endParaRPr lang="en-US" sz="788" dirty="0"/>
          </a:p>
        </p:txBody>
      </p:sp>
      <p:sp>
        <p:nvSpPr>
          <p:cNvPr id="62" name="Shape 60"/>
          <p:cNvSpPr/>
          <p:nvPr/>
        </p:nvSpPr>
        <p:spPr>
          <a:xfrm>
            <a:off x="3509875" y="4952876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3586073" y="4905252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리뷰 · 답글</a:t>
            </a:r>
            <a:endParaRPr lang="en-US" sz="788" dirty="0"/>
          </a:p>
        </p:txBody>
      </p:sp>
      <p:sp>
        <p:nvSpPr>
          <p:cNvPr id="64" name="Shape 62"/>
          <p:cNvSpPr/>
          <p:nvPr/>
        </p:nvSpPr>
        <p:spPr>
          <a:xfrm>
            <a:off x="3509875" y="5095748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3586073" y="5048124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메뉴 가이드 모달</a:t>
            </a:r>
            <a:endParaRPr lang="en-US" sz="788" dirty="0"/>
          </a:p>
        </p:txBody>
      </p:sp>
      <p:sp>
        <p:nvSpPr>
          <p:cNvPr id="66" name="Shape 64"/>
          <p:cNvSpPr/>
          <p:nvPr/>
        </p:nvSpPr>
        <p:spPr>
          <a:xfrm>
            <a:off x="3509875" y="5238619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3586073" y="5190995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외부 앱 바 (배민·요기요)</a:t>
            </a:r>
            <a:endParaRPr lang="en-US" sz="788" dirty="0"/>
          </a:p>
        </p:txBody>
      </p:sp>
      <p:sp>
        <p:nvSpPr>
          <p:cNvPr id="68" name="Shape 66"/>
          <p:cNvSpPr/>
          <p:nvPr/>
        </p:nvSpPr>
        <p:spPr>
          <a:xfrm>
            <a:off x="6181570" y="2076398"/>
            <a:ext cx="2652646" cy="742931"/>
          </a:xfrm>
          <a:prstGeom prst="roundRect">
            <a:avLst>
              <a:gd name="adj" fmla="val 15385"/>
            </a:avLst>
          </a:prstGeom>
          <a:solidFill>
            <a:srgbClr val="DCFCE7"/>
          </a:solidFill>
          <a:ln w="12700">
            <a:solidFill>
              <a:srgbClr val="22C55E">
                <a:alpha val="2200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81570" y="2209745"/>
            <a:ext cx="265264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kern="0" spc="18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 · ENGAGE</a:t>
            </a:r>
            <a:endParaRPr lang="en-US" sz="788" dirty="0"/>
          </a:p>
        </p:txBody>
      </p:sp>
      <p:sp>
        <p:nvSpPr>
          <p:cNvPr id="70" name="Text 68"/>
          <p:cNvSpPr/>
          <p:nvPr/>
        </p:nvSpPr>
        <p:spPr>
          <a:xfrm>
            <a:off x="6181570" y="2381190"/>
            <a:ext cx="265264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참여</a:t>
            </a:r>
            <a:endParaRPr lang="en-US" sz="1125" dirty="0"/>
          </a:p>
        </p:txBody>
      </p:sp>
      <p:sp>
        <p:nvSpPr>
          <p:cNvPr id="71" name="Text 69"/>
          <p:cNvSpPr/>
          <p:nvPr/>
        </p:nvSpPr>
        <p:spPr>
          <a:xfrm>
            <a:off x="6181570" y="2609785"/>
            <a:ext cx="265264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리뷰·좋아요 기록</a:t>
            </a:r>
            <a:endParaRPr lang="en-US" sz="788" dirty="0"/>
          </a:p>
        </p:txBody>
      </p:sp>
      <p:sp>
        <p:nvSpPr>
          <p:cNvPr id="72" name="Shape 70"/>
          <p:cNvSpPr/>
          <p:nvPr/>
        </p:nvSpPr>
        <p:spPr>
          <a:xfrm>
            <a:off x="6181570" y="2914577"/>
            <a:ext cx="2652646" cy="1114397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6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6314917" y="3047924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리뷰 작성</a:t>
            </a:r>
            <a:endParaRPr lang="en-US" sz="975" dirty="0"/>
          </a:p>
        </p:txBody>
      </p:sp>
      <p:sp>
        <p:nvSpPr>
          <p:cNvPr id="74" name="Shape 72"/>
          <p:cNvSpPr/>
          <p:nvPr/>
        </p:nvSpPr>
        <p:spPr>
          <a:xfrm>
            <a:off x="8243681" y="3047924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</p:sp>
      <p:sp>
        <p:nvSpPr>
          <p:cNvPr id="75" name="Text 73"/>
          <p:cNvSpPr/>
          <p:nvPr/>
        </p:nvSpPr>
        <p:spPr>
          <a:xfrm>
            <a:off x="8243681" y="3047924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1E3A8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AUTH</a:t>
            </a:r>
            <a:endParaRPr lang="en-US" sz="638" dirty="0"/>
          </a:p>
        </p:txBody>
      </p:sp>
      <p:sp>
        <p:nvSpPr>
          <p:cNvPr id="76" name="Text 74"/>
          <p:cNvSpPr/>
          <p:nvPr/>
        </p:nvSpPr>
        <p:spPr>
          <a:xfrm>
            <a:off x="6314917" y="3257469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/review/[id]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33967" y="3476538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78" name="Text 76"/>
          <p:cNvSpPr/>
          <p:nvPr/>
        </p:nvSpPr>
        <p:spPr>
          <a:xfrm>
            <a:off x="6410165" y="3428914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4축 별점 (테이블·음식·직원·화장실)</a:t>
            </a:r>
            <a:endParaRPr lang="en-US" sz="788" dirty="0"/>
          </a:p>
        </p:txBody>
      </p:sp>
      <p:sp>
        <p:nvSpPr>
          <p:cNvPr id="79" name="Shape 77"/>
          <p:cNvSpPr/>
          <p:nvPr/>
        </p:nvSpPr>
        <p:spPr>
          <a:xfrm>
            <a:off x="6333967" y="3619410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80" name="Text 78"/>
          <p:cNvSpPr/>
          <p:nvPr/>
        </p:nvSpPr>
        <p:spPr>
          <a:xfrm>
            <a:off x="6410165" y="3571786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방문 시점</a:t>
            </a:r>
            <a:endParaRPr lang="en-US" sz="788" dirty="0"/>
          </a:p>
        </p:txBody>
      </p:sp>
      <p:sp>
        <p:nvSpPr>
          <p:cNvPr id="81" name="Shape 79"/>
          <p:cNvSpPr/>
          <p:nvPr/>
        </p:nvSpPr>
        <p:spPr>
          <a:xfrm>
            <a:off x="6333967" y="3762281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82" name="Text 80"/>
          <p:cNvSpPr/>
          <p:nvPr/>
        </p:nvSpPr>
        <p:spPr>
          <a:xfrm>
            <a:off x="6410165" y="3714657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한줄평 · 사진</a:t>
            </a:r>
            <a:endParaRPr lang="en-US" sz="788" dirty="0"/>
          </a:p>
        </p:txBody>
      </p:sp>
      <p:sp>
        <p:nvSpPr>
          <p:cNvPr id="83" name="Shape 81"/>
          <p:cNvSpPr/>
          <p:nvPr/>
        </p:nvSpPr>
        <p:spPr>
          <a:xfrm>
            <a:off x="6181570" y="4105172"/>
            <a:ext cx="2652646" cy="97152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6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6314917" y="4238519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좋아요</a:t>
            </a:r>
            <a:endParaRPr lang="en-US" sz="975" dirty="0"/>
          </a:p>
        </p:txBody>
      </p:sp>
      <p:sp>
        <p:nvSpPr>
          <p:cNvPr id="85" name="Shape 83"/>
          <p:cNvSpPr/>
          <p:nvPr/>
        </p:nvSpPr>
        <p:spPr>
          <a:xfrm>
            <a:off x="8243681" y="4238519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</p:sp>
      <p:sp>
        <p:nvSpPr>
          <p:cNvPr id="86" name="Text 84"/>
          <p:cNvSpPr/>
          <p:nvPr/>
        </p:nvSpPr>
        <p:spPr>
          <a:xfrm>
            <a:off x="8243681" y="4238519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1E3A8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AUTH</a:t>
            </a:r>
            <a:endParaRPr lang="en-US" sz="638" dirty="0"/>
          </a:p>
        </p:txBody>
      </p:sp>
      <p:sp>
        <p:nvSpPr>
          <p:cNvPr id="87" name="Text 85"/>
          <p:cNvSpPr/>
          <p:nvPr/>
        </p:nvSpPr>
        <p:spPr>
          <a:xfrm>
            <a:off x="6314917" y="4448064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/favorites (Tab)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6333967" y="4667133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89" name="Text 87"/>
          <p:cNvSpPr/>
          <p:nvPr/>
        </p:nvSpPr>
        <p:spPr>
          <a:xfrm>
            <a:off x="6410165" y="4619510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등급별 분포</a:t>
            </a:r>
            <a:endParaRPr lang="en-US" sz="788" dirty="0"/>
          </a:p>
        </p:txBody>
      </p:sp>
      <p:sp>
        <p:nvSpPr>
          <p:cNvPr id="90" name="Shape 88"/>
          <p:cNvSpPr/>
          <p:nvPr/>
        </p:nvSpPr>
        <p:spPr>
          <a:xfrm>
            <a:off x="6333967" y="4810005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91" name="Text 89"/>
          <p:cNvSpPr/>
          <p:nvPr/>
        </p:nvSpPr>
        <p:spPr>
          <a:xfrm>
            <a:off x="6410165" y="4762381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저장 식당 리스트</a:t>
            </a:r>
            <a:endParaRPr lang="en-US" sz="788" dirty="0"/>
          </a:p>
        </p:txBody>
      </p:sp>
      <p:sp>
        <p:nvSpPr>
          <p:cNvPr id="92" name="Shape 90"/>
          <p:cNvSpPr/>
          <p:nvPr/>
        </p:nvSpPr>
        <p:spPr>
          <a:xfrm>
            <a:off x="9005662" y="2076398"/>
            <a:ext cx="2652646" cy="742931"/>
          </a:xfrm>
          <a:prstGeom prst="roundRect">
            <a:avLst>
              <a:gd name="adj" fmla="val 15385"/>
            </a:avLst>
          </a:prstGeom>
          <a:solidFill>
            <a:srgbClr val="DCFCE7"/>
          </a:solidFill>
          <a:ln w="12700">
            <a:solidFill>
              <a:srgbClr val="22C55E">
                <a:alpha val="22000"/>
              </a:srgbClr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005662" y="2209745"/>
            <a:ext cx="265264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kern="0" spc="18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04 · MANAGE</a:t>
            </a:r>
            <a:endParaRPr lang="en-US" sz="788" dirty="0"/>
          </a:p>
        </p:txBody>
      </p:sp>
      <p:sp>
        <p:nvSpPr>
          <p:cNvPr id="94" name="Text 92"/>
          <p:cNvSpPr/>
          <p:nvPr/>
        </p:nvSpPr>
        <p:spPr>
          <a:xfrm>
            <a:off x="9005662" y="2381190"/>
            <a:ext cx="265264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개인화</a:t>
            </a:r>
            <a:endParaRPr lang="en-US" sz="1125" dirty="0"/>
          </a:p>
        </p:txBody>
      </p:sp>
      <p:sp>
        <p:nvSpPr>
          <p:cNvPr id="95" name="Text 93"/>
          <p:cNvSpPr/>
          <p:nvPr/>
        </p:nvSpPr>
        <p:spPr>
          <a:xfrm>
            <a:off x="9005662" y="2609785"/>
            <a:ext cx="265264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내정보·사장님 운영</a:t>
            </a:r>
            <a:endParaRPr lang="en-US" sz="788" dirty="0"/>
          </a:p>
        </p:txBody>
      </p:sp>
      <p:sp>
        <p:nvSpPr>
          <p:cNvPr id="96" name="Shape 94"/>
          <p:cNvSpPr/>
          <p:nvPr/>
        </p:nvSpPr>
        <p:spPr>
          <a:xfrm>
            <a:off x="9005662" y="2914577"/>
            <a:ext cx="2652646" cy="1114397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6000"/>
              </a:srgbClr>
            </a:outerShdw>
          </a:effectLst>
        </p:spPr>
      </p:sp>
      <p:sp>
        <p:nvSpPr>
          <p:cNvPr id="97" name="Text 95"/>
          <p:cNvSpPr/>
          <p:nvPr/>
        </p:nvSpPr>
        <p:spPr>
          <a:xfrm>
            <a:off x="9139009" y="3047924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내정보</a:t>
            </a:r>
            <a:endParaRPr lang="en-US" sz="975" dirty="0"/>
          </a:p>
        </p:txBody>
      </p:sp>
      <p:sp>
        <p:nvSpPr>
          <p:cNvPr id="98" name="Shape 96"/>
          <p:cNvSpPr/>
          <p:nvPr/>
        </p:nvSpPr>
        <p:spPr>
          <a:xfrm>
            <a:off x="11067773" y="3047924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</p:sp>
      <p:sp>
        <p:nvSpPr>
          <p:cNvPr id="99" name="Text 97"/>
          <p:cNvSpPr/>
          <p:nvPr/>
        </p:nvSpPr>
        <p:spPr>
          <a:xfrm>
            <a:off x="11067773" y="3047924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1E3A8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AUTH</a:t>
            </a:r>
            <a:endParaRPr lang="en-US" sz="638" dirty="0"/>
          </a:p>
        </p:txBody>
      </p:sp>
      <p:sp>
        <p:nvSpPr>
          <p:cNvPr id="100" name="Text 98"/>
          <p:cNvSpPr/>
          <p:nvPr/>
        </p:nvSpPr>
        <p:spPr>
          <a:xfrm>
            <a:off x="9139009" y="3257469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/profile (Tab)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9158059" y="3476538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102" name="Text 100"/>
          <p:cNvSpPr/>
          <p:nvPr/>
        </p:nvSpPr>
        <p:spPr>
          <a:xfrm>
            <a:off x="9234257" y="3428914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내 리뷰 · 좋아요</a:t>
            </a:r>
            <a:endParaRPr lang="en-US" sz="788" dirty="0"/>
          </a:p>
        </p:txBody>
      </p:sp>
      <p:sp>
        <p:nvSpPr>
          <p:cNvPr id="103" name="Shape 101"/>
          <p:cNvSpPr/>
          <p:nvPr/>
        </p:nvSpPr>
        <p:spPr>
          <a:xfrm>
            <a:off x="9158059" y="3619410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104" name="Text 102"/>
          <p:cNvSpPr/>
          <p:nvPr/>
        </p:nvSpPr>
        <p:spPr>
          <a:xfrm>
            <a:off x="9234257" y="3571786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가이드 라이브러리</a:t>
            </a:r>
            <a:endParaRPr lang="en-US" sz="788" dirty="0"/>
          </a:p>
        </p:txBody>
      </p:sp>
      <p:sp>
        <p:nvSpPr>
          <p:cNvPr id="105" name="Shape 103"/>
          <p:cNvSpPr/>
          <p:nvPr/>
        </p:nvSpPr>
        <p:spPr>
          <a:xfrm>
            <a:off x="9158059" y="3762281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106" name="Text 104"/>
          <p:cNvSpPr/>
          <p:nvPr/>
        </p:nvSpPr>
        <p:spPr>
          <a:xfrm>
            <a:off x="9234257" y="3714657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사장님 모드 진입</a:t>
            </a:r>
            <a:endParaRPr lang="en-US" sz="788" dirty="0"/>
          </a:p>
        </p:txBody>
      </p:sp>
      <p:sp>
        <p:nvSpPr>
          <p:cNvPr id="107" name="Shape 105"/>
          <p:cNvSpPr/>
          <p:nvPr/>
        </p:nvSpPr>
        <p:spPr>
          <a:xfrm>
            <a:off x="9005662" y="4105172"/>
            <a:ext cx="2652646" cy="1114397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6000"/>
              </a:srgbClr>
            </a:outerShdw>
          </a:effectLst>
        </p:spPr>
      </p:sp>
      <p:sp>
        <p:nvSpPr>
          <p:cNvPr id="108" name="Text 106"/>
          <p:cNvSpPr/>
          <p:nvPr/>
        </p:nvSpPr>
        <p:spPr>
          <a:xfrm>
            <a:off x="9139009" y="4238519"/>
            <a:ext cx="189066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kern="0" spc="-2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사장님 인증·운영</a:t>
            </a:r>
            <a:endParaRPr lang="en-US" sz="975" dirty="0"/>
          </a:p>
        </p:txBody>
      </p:sp>
      <p:sp>
        <p:nvSpPr>
          <p:cNvPr id="109" name="Shape 107"/>
          <p:cNvSpPr/>
          <p:nvPr/>
        </p:nvSpPr>
        <p:spPr>
          <a:xfrm>
            <a:off x="11067773" y="4238519"/>
            <a:ext cx="457189" cy="152396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10" name="Text 108"/>
          <p:cNvSpPr/>
          <p:nvPr/>
        </p:nvSpPr>
        <p:spPr>
          <a:xfrm>
            <a:off x="11067773" y="4238519"/>
            <a:ext cx="45718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8" b="1" kern="0" spc="50" dirty="0">
                <a:solidFill>
                  <a:srgbClr val="92400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OWNER</a:t>
            </a:r>
            <a:endParaRPr lang="en-US" sz="638" dirty="0"/>
          </a:p>
        </p:txBody>
      </p:sp>
      <p:sp>
        <p:nvSpPr>
          <p:cNvPr id="111" name="Text 109"/>
          <p:cNvSpPr/>
          <p:nvPr/>
        </p:nvSpPr>
        <p:spPr>
          <a:xfrm>
            <a:off x="9139009" y="4448064"/>
            <a:ext cx="238595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/owner/apply · /my-stores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9158059" y="4667133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113" name="Text 111"/>
          <p:cNvSpPr/>
          <p:nvPr/>
        </p:nvSpPr>
        <p:spPr>
          <a:xfrm>
            <a:off x="9234257" y="4619510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사업자번호 인증</a:t>
            </a:r>
            <a:endParaRPr lang="en-US" sz="788" dirty="0"/>
          </a:p>
        </p:txBody>
      </p:sp>
      <p:sp>
        <p:nvSpPr>
          <p:cNvPr id="114" name="Shape 112"/>
          <p:cNvSpPr/>
          <p:nvPr/>
        </p:nvSpPr>
        <p:spPr>
          <a:xfrm>
            <a:off x="9158059" y="4810005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115" name="Text 113"/>
          <p:cNvSpPr/>
          <p:nvPr/>
        </p:nvSpPr>
        <p:spPr>
          <a:xfrm>
            <a:off x="9234257" y="4762381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청소 인증 게시</a:t>
            </a:r>
            <a:endParaRPr lang="en-US" sz="788" dirty="0"/>
          </a:p>
        </p:txBody>
      </p:sp>
      <p:sp>
        <p:nvSpPr>
          <p:cNvPr id="116" name="Shape 114"/>
          <p:cNvSpPr/>
          <p:nvPr/>
        </p:nvSpPr>
        <p:spPr>
          <a:xfrm>
            <a:off x="9158059" y="4952876"/>
            <a:ext cx="38099" cy="38099"/>
          </a:xfrm>
          <a:prstGeom prst="ellipse">
            <a:avLst/>
          </a:prstGeom>
          <a:solidFill>
            <a:srgbClr val="22C55E">
              <a:alpha val="60000"/>
            </a:srgbClr>
          </a:solidFill>
          <a:ln/>
        </p:spPr>
      </p:sp>
      <p:sp>
        <p:nvSpPr>
          <p:cNvPr id="117" name="Text 115"/>
          <p:cNvSpPr/>
          <p:nvPr/>
        </p:nvSpPr>
        <p:spPr>
          <a:xfrm>
            <a:off x="9234257" y="4905252"/>
            <a:ext cx="22907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리뷰 답글</a:t>
            </a:r>
            <a:endParaRPr lang="en-US" sz="788" dirty="0"/>
          </a:p>
        </p:txBody>
      </p:sp>
      <p:sp>
        <p:nvSpPr>
          <p:cNvPr id="118" name="Text 116"/>
          <p:cNvSpPr/>
          <p:nvPr/>
        </p:nvSpPr>
        <p:spPr>
          <a:xfrm>
            <a:off x="533387" y="6305392"/>
            <a:ext cx="1047724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140" dirty="0">
                <a:solidFill>
                  <a:srgbClr val="D9770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USER FLOW</a:t>
            </a:r>
            <a:endParaRPr lang="en-US" sz="825" dirty="0"/>
          </a:p>
        </p:txBody>
      </p:sp>
      <p:sp>
        <p:nvSpPr>
          <p:cNvPr id="119" name="Text 117"/>
          <p:cNvSpPr/>
          <p:nvPr/>
        </p:nvSpPr>
        <p:spPr>
          <a:xfrm>
            <a:off x="1257268" y="6314916"/>
            <a:ext cx="685782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홈·지도 </a:t>
            </a: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</a:t>
            </a: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상세 보고서 </a:t>
            </a: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</a:t>
            </a: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리뷰·좋아요 </a:t>
            </a: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 </a:t>
            </a: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내정보·사장님</a:t>
            </a:r>
            <a:endParaRPr lang="en-US" sz="825" dirty="0"/>
          </a:p>
        </p:txBody>
      </p:sp>
      <p:sp>
        <p:nvSpPr>
          <p:cNvPr id="120" name="Text 118"/>
          <p:cNvSpPr/>
          <p:nvPr/>
        </p:nvSpPr>
        <p:spPr>
          <a:xfrm>
            <a:off x="9048524" y="6305392"/>
            <a:ext cx="257168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 </a:t>
            </a: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Tabs   </a:t>
            </a:r>
            <a:r>
              <a:rPr lang="en-US" sz="82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 </a:t>
            </a: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Stack   </a:t>
            </a:r>
            <a:r>
              <a:rPr lang="en-US" sz="82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95% </a:t>
            </a: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Public</a:t>
            </a:r>
            <a:endParaRPr lang="en-US" sz="8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490</Words>
  <Application>Microsoft Macintosh PowerPoint</Application>
  <PresentationFormat>와이드스크린</PresentationFormat>
  <Paragraphs>142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Pretendard Variable</vt:lpstr>
      <vt:lpstr>Arial</vt:lpstr>
      <vt:lpstr>Consolas</vt:lpstr>
      <vt:lpstr>Office Theme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식탐정 — Information Architecture</dc:title>
  <dc:subject>PptxGenJS Presentation</dc:subject>
  <dc:creator>식탐정</dc:creator>
  <cp:lastModifiedBy>Sanghoon</cp:lastModifiedBy>
  <cp:revision>2</cp:revision>
  <dcterms:created xsi:type="dcterms:W3CDTF">2026-05-13T05:56:33Z</dcterms:created>
  <dcterms:modified xsi:type="dcterms:W3CDTF">2026-05-13T06:51:37Z</dcterms:modified>
</cp:coreProperties>
</file>