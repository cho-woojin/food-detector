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위생등급 신청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FEE2E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인증</c:v>
                </c:pt>
                <c:pt idx="1">
                  <c:v>미인증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</c:v>
                </c:pt>
                <c:pt idx="1">
                  <c:v>88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5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76" y="857229"/>
            <a:ext cx="5905352" cy="5143371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/>
        </p:spPr>
      </p:sp>
      <p:pic>
        <p:nvPicPr>
          <p:cNvPr id="3" name="Image 0" descr="/Users/sanghoon/Documents/GitHub/food-detector/presentation/image/mockup_blank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 rot="360000">
            <a:off x="4571886" y="761981"/>
            <a:ext cx="2190695" cy="44357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-360000">
            <a:off x="1142971" y="1238219"/>
            <a:ext cx="1904952" cy="4128874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5" name="Image 1" descr="/Users/sanghoon/Documents/GitHub/food-detector/presentation/image/rounded/page1_score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60000">
            <a:off x="1142971" y="1238219"/>
            <a:ext cx="1904952" cy="412887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360000">
            <a:off x="4619510" y="1238219"/>
            <a:ext cx="1904952" cy="4128874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7" name="Image 2" descr="/Users/sanghoon/Documents/GitHub/food-detector/presentation/image/rounded/page1_score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4619510" y="1238219"/>
            <a:ext cx="1904952" cy="412887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714557" y="904852"/>
            <a:ext cx="2190695" cy="4748205"/>
          </a:xfrm>
          <a:prstGeom prst="roundRect">
            <a:avLst>
              <a:gd name="adj" fmla="val 1391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9" name="Image 3" descr="/Users/sanghoon/Documents/GitHub/food-detector/presentation/image/rounded/page1_score_det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557" y="904852"/>
            <a:ext cx="2190695" cy="474820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67413" y="1904952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출품작 핵심내용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7467413" y="2209745"/>
            <a:ext cx="4190895" cy="133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 위생 점수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치즈 등급</a:t>
            </a:r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으로 한눈에</a:t>
            </a:r>
            <a:endParaRPr lang="en-US" sz="3300" dirty="0"/>
          </a:p>
        </p:txBody>
      </p:sp>
      <p:sp>
        <p:nvSpPr>
          <p:cNvPr id="12" name="Text 6"/>
          <p:cNvSpPr/>
          <p:nvPr/>
        </p:nvSpPr>
        <p:spPr>
          <a:xfrm>
            <a:off x="7467413" y="3428914"/>
            <a:ext cx="4190895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공공데이터·사장님 인증·사용자 리뷰를 종합해 식당 위생 신뢰도를 </a:t>
            </a:r>
            <a:pPr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4단계 치즈 등급</a:t>
            </a:r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으로 표시합니다. 검색·지도·상세 어디서든 1초 안에 등급을 확인할 수 있어요.</a:t>
            </a:r>
            <a:endParaRPr lang="en-US" sz="1125" dirty="0"/>
          </a:p>
        </p:txBody>
      </p:sp>
      <p:sp>
        <p:nvSpPr>
          <p:cNvPr id="13" name="Shape 7"/>
          <p:cNvSpPr/>
          <p:nvPr/>
        </p:nvSpPr>
        <p:spPr>
          <a:xfrm>
            <a:off x="7467413" y="4524262"/>
            <a:ext cx="761981" cy="285743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581710" y="4629034"/>
            <a:ext cx="76198" cy="7619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5" name="Text 9"/>
          <p:cNvSpPr/>
          <p:nvPr/>
        </p:nvSpPr>
        <p:spPr>
          <a:xfrm>
            <a:off x="7715057" y="4524262"/>
            <a:ext cx="514337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골드</a:t>
            </a:r>
            <a:endParaRPr lang="en-US" sz="975" dirty="0"/>
          </a:p>
        </p:txBody>
      </p:sp>
      <p:sp>
        <p:nvSpPr>
          <p:cNvPr id="16" name="Shape 10"/>
          <p:cNvSpPr/>
          <p:nvPr/>
        </p:nvSpPr>
        <p:spPr>
          <a:xfrm>
            <a:off x="8305592" y="4524262"/>
            <a:ext cx="761981" cy="285743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419889" y="4629034"/>
            <a:ext cx="76198" cy="7619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Text 12"/>
          <p:cNvSpPr/>
          <p:nvPr/>
        </p:nvSpPr>
        <p:spPr>
          <a:xfrm>
            <a:off x="8553236" y="4524262"/>
            <a:ext cx="514337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실버</a:t>
            </a:r>
            <a:endParaRPr lang="en-US" sz="975" dirty="0"/>
          </a:p>
        </p:txBody>
      </p:sp>
      <p:sp>
        <p:nvSpPr>
          <p:cNvPr id="19" name="Shape 13"/>
          <p:cNvSpPr/>
          <p:nvPr/>
        </p:nvSpPr>
        <p:spPr>
          <a:xfrm>
            <a:off x="9143771" y="4524262"/>
            <a:ext cx="761981" cy="285743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258069" y="4629034"/>
            <a:ext cx="76198" cy="76198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21" name="Text 15"/>
          <p:cNvSpPr/>
          <p:nvPr/>
        </p:nvSpPr>
        <p:spPr>
          <a:xfrm>
            <a:off x="9391415" y="4524262"/>
            <a:ext cx="514337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브론즈</a:t>
            </a:r>
            <a:endParaRPr lang="en-US" sz="975" dirty="0"/>
          </a:p>
        </p:txBody>
      </p:sp>
      <p:sp>
        <p:nvSpPr>
          <p:cNvPr id="22" name="Shape 16"/>
          <p:cNvSpPr/>
          <p:nvPr/>
        </p:nvSpPr>
        <p:spPr>
          <a:xfrm>
            <a:off x="10077198" y="4524262"/>
            <a:ext cx="761981" cy="285743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191495" y="4629034"/>
            <a:ext cx="76198" cy="7619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18"/>
          <p:cNvSpPr/>
          <p:nvPr/>
        </p:nvSpPr>
        <p:spPr>
          <a:xfrm>
            <a:off x="10324842" y="4524262"/>
            <a:ext cx="514337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트랩</a:t>
            </a:r>
            <a:endParaRPr lang="en-US" sz="975" dirty="0"/>
          </a:p>
        </p:txBody>
      </p:sp>
      <p:sp>
        <p:nvSpPr>
          <p:cNvPr id="25" name="Shape 19"/>
          <p:cNvSpPr/>
          <p:nvPr/>
        </p:nvSpPr>
        <p:spPr>
          <a:xfrm>
            <a:off x="1064868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1078203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1091537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1104872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1118207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1131541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1144876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1064868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1078203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1091537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1104872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1118207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1131541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1144876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3"/>
          <p:cNvSpPr/>
          <p:nvPr/>
        </p:nvSpPr>
        <p:spPr>
          <a:xfrm>
            <a:off x="1064868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4"/>
          <p:cNvSpPr/>
          <p:nvPr/>
        </p:nvSpPr>
        <p:spPr>
          <a:xfrm>
            <a:off x="1078203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5"/>
          <p:cNvSpPr/>
          <p:nvPr/>
        </p:nvSpPr>
        <p:spPr>
          <a:xfrm>
            <a:off x="1091537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1104872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37"/>
          <p:cNvSpPr/>
          <p:nvPr/>
        </p:nvSpPr>
        <p:spPr>
          <a:xfrm>
            <a:off x="1118207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38"/>
          <p:cNvSpPr/>
          <p:nvPr/>
        </p:nvSpPr>
        <p:spPr>
          <a:xfrm>
            <a:off x="1131541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39"/>
          <p:cNvSpPr/>
          <p:nvPr/>
        </p:nvSpPr>
        <p:spPr>
          <a:xfrm>
            <a:off x="1144876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0"/>
          <p:cNvSpPr/>
          <p:nvPr/>
        </p:nvSpPr>
        <p:spPr>
          <a:xfrm>
            <a:off x="1064868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1"/>
          <p:cNvSpPr/>
          <p:nvPr/>
        </p:nvSpPr>
        <p:spPr>
          <a:xfrm>
            <a:off x="1078203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2"/>
          <p:cNvSpPr/>
          <p:nvPr/>
        </p:nvSpPr>
        <p:spPr>
          <a:xfrm>
            <a:off x="1091537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3"/>
          <p:cNvSpPr/>
          <p:nvPr/>
        </p:nvSpPr>
        <p:spPr>
          <a:xfrm>
            <a:off x="1104872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4"/>
          <p:cNvSpPr/>
          <p:nvPr/>
        </p:nvSpPr>
        <p:spPr>
          <a:xfrm>
            <a:off x="1118207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Shape 45"/>
          <p:cNvSpPr/>
          <p:nvPr/>
        </p:nvSpPr>
        <p:spPr>
          <a:xfrm>
            <a:off x="1131541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2" name="Shape 46"/>
          <p:cNvSpPr/>
          <p:nvPr/>
        </p:nvSpPr>
        <p:spPr>
          <a:xfrm>
            <a:off x="1144876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3" name="Shape 47"/>
          <p:cNvSpPr/>
          <p:nvPr/>
        </p:nvSpPr>
        <p:spPr>
          <a:xfrm>
            <a:off x="1064868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4" name="Shape 48"/>
          <p:cNvSpPr/>
          <p:nvPr/>
        </p:nvSpPr>
        <p:spPr>
          <a:xfrm>
            <a:off x="1078203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5" name="Shape 49"/>
          <p:cNvSpPr/>
          <p:nvPr/>
        </p:nvSpPr>
        <p:spPr>
          <a:xfrm>
            <a:off x="1091537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6" name="Shape 50"/>
          <p:cNvSpPr/>
          <p:nvPr/>
        </p:nvSpPr>
        <p:spPr>
          <a:xfrm>
            <a:off x="1104872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7" name="Shape 51"/>
          <p:cNvSpPr/>
          <p:nvPr/>
        </p:nvSpPr>
        <p:spPr>
          <a:xfrm>
            <a:off x="1118207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8" name="Shape 52"/>
          <p:cNvSpPr/>
          <p:nvPr/>
        </p:nvSpPr>
        <p:spPr>
          <a:xfrm>
            <a:off x="1131541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9" name="Shape 53"/>
          <p:cNvSpPr/>
          <p:nvPr/>
        </p:nvSpPr>
        <p:spPr>
          <a:xfrm>
            <a:off x="1144876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0" name="Shape 54"/>
          <p:cNvSpPr/>
          <p:nvPr/>
        </p:nvSpPr>
        <p:spPr>
          <a:xfrm>
            <a:off x="1064868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1" name="Shape 55"/>
          <p:cNvSpPr/>
          <p:nvPr/>
        </p:nvSpPr>
        <p:spPr>
          <a:xfrm>
            <a:off x="1078203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2" name="Shape 56"/>
          <p:cNvSpPr/>
          <p:nvPr/>
        </p:nvSpPr>
        <p:spPr>
          <a:xfrm>
            <a:off x="1091537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3" name="Shape 57"/>
          <p:cNvSpPr/>
          <p:nvPr/>
        </p:nvSpPr>
        <p:spPr>
          <a:xfrm>
            <a:off x="1104872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4" name="Shape 58"/>
          <p:cNvSpPr/>
          <p:nvPr/>
        </p:nvSpPr>
        <p:spPr>
          <a:xfrm>
            <a:off x="1118207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5" name="Shape 59"/>
          <p:cNvSpPr/>
          <p:nvPr/>
        </p:nvSpPr>
        <p:spPr>
          <a:xfrm>
            <a:off x="1131541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6" name="Shape 60"/>
          <p:cNvSpPr/>
          <p:nvPr/>
        </p:nvSpPr>
        <p:spPr>
          <a:xfrm>
            <a:off x="1144876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7" name="Shape 61"/>
          <p:cNvSpPr/>
          <p:nvPr/>
        </p:nvSpPr>
        <p:spPr>
          <a:xfrm>
            <a:off x="1064868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8" name="Shape 62"/>
          <p:cNvSpPr/>
          <p:nvPr/>
        </p:nvSpPr>
        <p:spPr>
          <a:xfrm>
            <a:off x="1078203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9" name="Shape 63"/>
          <p:cNvSpPr/>
          <p:nvPr/>
        </p:nvSpPr>
        <p:spPr>
          <a:xfrm>
            <a:off x="1091537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0" name="Shape 64"/>
          <p:cNvSpPr/>
          <p:nvPr/>
        </p:nvSpPr>
        <p:spPr>
          <a:xfrm>
            <a:off x="1104872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1" name="Shape 65"/>
          <p:cNvSpPr/>
          <p:nvPr/>
        </p:nvSpPr>
        <p:spPr>
          <a:xfrm>
            <a:off x="1118207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2" name="Shape 66"/>
          <p:cNvSpPr/>
          <p:nvPr/>
        </p:nvSpPr>
        <p:spPr>
          <a:xfrm>
            <a:off x="1131541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3" name="Shape 67"/>
          <p:cNvSpPr/>
          <p:nvPr/>
        </p:nvSpPr>
        <p:spPr>
          <a:xfrm>
            <a:off x="1144876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4" name="Shape 68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5" name="Text 69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76" name="Text 70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29" y="666733"/>
            <a:ext cx="4571886" cy="5524362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3" name="Shape 1"/>
          <p:cNvSpPr/>
          <p:nvPr/>
        </p:nvSpPr>
        <p:spPr>
          <a:xfrm>
            <a:off x="8048424" y="666733"/>
            <a:ext cx="2571686" cy="5573979"/>
          </a:xfrm>
          <a:prstGeom prst="roundRect">
            <a:avLst>
              <a:gd name="adj" fmla="val 1185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4" name="Image 0" descr="/Users/sanghoon/Documents/GitHub/food-detector/presentation/image/rounded/page2_trap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424" y="666733"/>
            <a:ext cx="2571686" cy="557397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20089" y="857229"/>
            <a:ext cx="533387" cy="533387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152400" dist="50800" dir="5400000">
              <a:srgbClr val="991B1B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420089" y="857229"/>
            <a:ext cx="533387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!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61981" y="1904952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F444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출품작 핵심내용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1981" y="2209745"/>
            <a:ext cx="4571886" cy="133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트랩 치즈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EF444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행정처분 알림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761981" y="3428914"/>
            <a:ext cx="4571886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식약처·자치구 행정처분에서 </a:t>
            </a:r>
            <a:pPr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직결 위반</a:t>
            </a:r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(이물·세균·유통기한 등)이 적발된 식당은 트랩 치즈로 자동 표시되고, 위반 사유 원문을 그대로 보여드립니다.</a:t>
            </a:r>
            <a:endParaRPr lang="en-US" sz="1125" dirty="0"/>
          </a:p>
        </p:txBody>
      </p:sp>
      <p:sp>
        <p:nvSpPr>
          <p:cNvPr id="10" name="Shape 7"/>
          <p:cNvSpPr/>
          <p:nvPr/>
        </p:nvSpPr>
        <p:spPr>
          <a:xfrm>
            <a:off x="761981" y="541006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95328" y="541006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28674" y="541006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162021" y="541006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295368" y="541006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428714" y="541006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562061" y="541006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61981" y="554341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95328" y="554341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028674" y="554341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62021" y="554341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295368" y="554341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428714" y="554341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562061" y="554341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61981" y="567675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95328" y="567675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028674" y="567675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162021" y="567675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295368" y="567675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428714" y="567675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1562061" y="567675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61981" y="581010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95328" y="581010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028674" y="581010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162021" y="581010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295368" y="581010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428714" y="581010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562061" y="581010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761981" y="594345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895328" y="594345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028674" y="594345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162021" y="594345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295368" y="594345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428714" y="594345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562061" y="5943451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761981" y="607679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895328" y="607679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1028674" y="607679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1162021" y="607679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295368" y="607679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428714" y="607679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562061" y="6076798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1981" y="621014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95328" y="621014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1028674" y="621014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1162021" y="621014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1295368" y="621014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1428714" y="621014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1562061" y="6210145"/>
            <a:ext cx="38099" cy="38099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0" name="Text 57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38" y="761981"/>
            <a:ext cx="6286343" cy="5333867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761981" y="1238219"/>
            <a:ext cx="1904952" cy="4128874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4" name="Image 0" descr="/Users/sanghoon/Documents/GitHub/food-detector/presentation/image/rounded/page3_review_wr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60000">
            <a:off x="761981" y="1238219"/>
            <a:ext cx="1904952" cy="4128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360000">
            <a:off x="4571886" y="1238219"/>
            <a:ext cx="1904952" cy="4128874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6" name="Image 1" descr="/Users/sanghoon/Documents/GitHub/food-detector/presentation/image/rounded/page3_review_favori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571886" y="1238219"/>
            <a:ext cx="1904952" cy="41288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71686" y="904852"/>
            <a:ext cx="2190695" cy="4748205"/>
          </a:xfrm>
          <a:prstGeom prst="roundRect">
            <a:avLst>
              <a:gd name="adj" fmla="val 1391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2" descr="/Users/sanghoon/Documents/GitHub/food-detector/presentation/image/rounded/page3_review_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686" y="904852"/>
            <a:ext cx="2190695" cy="47482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62701" y="1904952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출품작 핵심내용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7962701" y="2209745"/>
            <a:ext cx="3809905" cy="133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사용자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리뷰 &amp; </a:t>
            </a:r>
            <a:pPr indent="0" marL="0">
              <a:buNone/>
            </a:pPr>
            <a:r>
              <a:rPr lang="en-US" sz="3300" b="1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좋아요</a:t>
            </a:r>
            <a:endParaRPr lang="en-US" sz="3300" dirty="0"/>
          </a:p>
        </p:txBody>
      </p:sp>
      <p:sp>
        <p:nvSpPr>
          <p:cNvPr id="11" name="Text 6"/>
          <p:cNvSpPr/>
          <p:nvPr/>
        </p:nvSpPr>
        <p:spPr>
          <a:xfrm>
            <a:off x="7962701" y="3428914"/>
            <a:ext cx="3619410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4축 별점</a:t>
            </a:r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(테이블·음식·직원·화장실)과 한줄평·사진으로 실시간 위생 정보를 공유합니다. 좋아요한 식당은 등급별 분포로 정리되어 한눈에 보여요.</a:t>
            </a:r>
            <a:endParaRPr lang="en-US" sz="1125" dirty="0"/>
          </a:p>
        </p:txBody>
      </p:sp>
      <p:sp>
        <p:nvSpPr>
          <p:cNvPr id="12" name="Shape 7"/>
          <p:cNvSpPr/>
          <p:nvPr/>
        </p:nvSpPr>
        <p:spPr>
          <a:xfrm>
            <a:off x="666733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80008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93342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1066773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120012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133346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1466813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66733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0008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93342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1066773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120012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33346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1466813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666733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80008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93342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1066773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120012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133346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1466813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666733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80008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0"/>
          <p:cNvSpPr/>
          <p:nvPr/>
        </p:nvSpPr>
        <p:spPr>
          <a:xfrm>
            <a:off x="93342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1"/>
          <p:cNvSpPr/>
          <p:nvPr/>
        </p:nvSpPr>
        <p:spPr>
          <a:xfrm>
            <a:off x="1066773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120012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133346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1466813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666733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6"/>
          <p:cNvSpPr/>
          <p:nvPr/>
        </p:nvSpPr>
        <p:spPr>
          <a:xfrm>
            <a:off x="80008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93342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38"/>
          <p:cNvSpPr/>
          <p:nvPr/>
        </p:nvSpPr>
        <p:spPr>
          <a:xfrm>
            <a:off x="1066773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120012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0"/>
          <p:cNvSpPr/>
          <p:nvPr/>
        </p:nvSpPr>
        <p:spPr>
          <a:xfrm>
            <a:off x="133346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1466813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666733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3"/>
          <p:cNvSpPr/>
          <p:nvPr/>
        </p:nvSpPr>
        <p:spPr>
          <a:xfrm>
            <a:off x="80008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4"/>
          <p:cNvSpPr/>
          <p:nvPr/>
        </p:nvSpPr>
        <p:spPr>
          <a:xfrm>
            <a:off x="93342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5"/>
          <p:cNvSpPr/>
          <p:nvPr/>
        </p:nvSpPr>
        <p:spPr>
          <a:xfrm>
            <a:off x="1066773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Shape 46"/>
          <p:cNvSpPr/>
          <p:nvPr/>
        </p:nvSpPr>
        <p:spPr>
          <a:xfrm>
            <a:off x="120012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2" name="Shape 47"/>
          <p:cNvSpPr/>
          <p:nvPr/>
        </p:nvSpPr>
        <p:spPr>
          <a:xfrm>
            <a:off x="133346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3" name="Shape 48"/>
          <p:cNvSpPr/>
          <p:nvPr/>
        </p:nvSpPr>
        <p:spPr>
          <a:xfrm>
            <a:off x="1466813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4" name="Shape 49"/>
          <p:cNvSpPr/>
          <p:nvPr/>
        </p:nvSpPr>
        <p:spPr>
          <a:xfrm>
            <a:off x="666733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5" name="Shape 50"/>
          <p:cNvSpPr/>
          <p:nvPr/>
        </p:nvSpPr>
        <p:spPr>
          <a:xfrm>
            <a:off x="80008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6" name="Shape 51"/>
          <p:cNvSpPr/>
          <p:nvPr/>
        </p:nvSpPr>
        <p:spPr>
          <a:xfrm>
            <a:off x="93342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7" name="Shape 52"/>
          <p:cNvSpPr/>
          <p:nvPr/>
        </p:nvSpPr>
        <p:spPr>
          <a:xfrm>
            <a:off x="1066773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8" name="Shape 53"/>
          <p:cNvSpPr/>
          <p:nvPr/>
        </p:nvSpPr>
        <p:spPr>
          <a:xfrm>
            <a:off x="120012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9" name="Shape 54"/>
          <p:cNvSpPr/>
          <p:nvPr/>
        </p:nvSpPr>
        <p:spPr>
          <a:xfrm>
            <a:off x="133346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0" name="Shape 55"/>
          <p:cNvSpPr/>
          <p:nvPr/>
        </p:nvSpPr>
        <p:spPr>
          <a:xfrm>
            <a:off x="1466813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1" name="Shape 56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2" name="Text 57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63" name="Text 58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095" y="666733"/>
            <a:ext cx="5333867" cy="5524362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/>
        </p:spPr>
      </p:sp>
      <p:sp>
        <p:nvSpPr>
          <p:cNvPr id="3" name="Shape 1"/>
          <p:cNvSpPr/>
          <p:nvPr/>
        </p:nvSpPr>
        <p:spPr>
          <a:xfrm rot="300000">
            <a:off x="9143771" y="1523962"/>
            <a:ext cx="1904952" cy="4128874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4" name="Image 0" descr="/Users/sanghoon/Documents/GitHub/food-detector/presentation/image/rounded/page4_owner_map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 rot="300000">
            <a:off x="9143771" y="1523962"/>
            <a:ext cx="1904952" cy="4128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43571" y="761981"/>
            <a:ext cx="2381190" cy="5161092"/>
          </a:xfrm>
          <a:prstGeom prst="roundRect">
            <a:avLst>
              <a:gd name="adj" fmla="val 128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6" name="Image 1" descr="/Users/sanghoon/Documents/GitHub/food-detector/presentation/image/rounded/page4_owner_ver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571" y="761981"/>
            <a:ext cx="2381190" cy="51610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81" y="1904952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출품작 핵심내용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61981" y="2209745"/>
            <a:ext cx="4381390" cy="133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사장님이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직접 입증하는 </a:t>
            </a:r>
            <a:pPr indent="0" marL="0">
              <a:buNone/>
            </a:pPr>
            <a:r>
              <a:rPr lang="en-US" sz="3300" b="1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</a:t>
            </a:r>
            <a:endParaRPr lang="en-US" sz="3300" dirty="0"/>
          </a:p>
        </p:txBody>
      </p:sp>
      <p:sp>
        <p:nvSpPr>
          <p:cNvPr id="9" name="Text 5"/>
          <p:cNvSpPr/>
          <p:nvPr/>
        </p:nvSpPr>
        <p:spPr>
          <a:xfrm>
            <a:off x="761981" y="3428914"/>
            <a:ext cx="4381390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사업자 인증을 거친 사장님은 청소·위생 활동을 직접 게시해 </a:t>
            </a:r>
            <a:pPr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점수를 가산</a:t>
            </a:r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받을 수 있어요. 지도와 검색 결과에서도 더 높은 등급으로 부각됩니다.</a:t>
            </a:r>
            <a:endParaRPr lang="en-US" sz="1125" dirty="0"/>
          </a:p>
        </p:txBody>
      </p:sp>
      <p:sp>
        <p:nvSpPr>
          <p:cNvPr id="10" name="Shape 6"/>
          <p:cNvSpPr/>
          <p:nvPr/>
        </p:nvSpPr>
        <p:spPr>
          <a:xfrm>
            <a:off x="76198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89532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102867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116202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29536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142871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156206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6198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9532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102867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116202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129536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142871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156206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76198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89532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102867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116202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129536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142871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156206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76198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89532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102867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116202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129536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142871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156206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76198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89532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102867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116202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129536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142871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156206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1"/>
          <p:cNvSpPr/>
          <p:nvPr/>
        </p:nvSpPr>
        <p:spPr>
          <a:xfrm>
            <a:off x="76198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89532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3"/>
          <p:cNvSpPr/>
          <p:nvPr/>
        </p:nvSpPr>
        <p:spPr>
          <a:xfrm>
            <a:off x="102867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4"/>
          <p:cNvSpPr/>
          <p:nvPr/>
        </p:nvSpPr>
        <p:spPr>
          <a:xfrm>
            <a:off x="116202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5"/>
          <p:cNvSpPr/>
          <p:nvPr/>
        </p:nvSpPr>
        <p:spPr>
          <a:xfrm>
            <a:off x="129536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142871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Shape 47"/>
          <p:cNvSpPr/>
          <p:nvPr/>
        </p:nvSpPr>
        <p:spPr>
          <a:xfrm>
            <a:off x="156206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76198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89532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102867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5" name="Shape 51"/>
          <p:cNvSpPr/>
          <p:nvPr/>
        </p:nvSpPr>
        <p:spPr>
          <a:xfrm>
            <a:off x="116202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129536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>
            <a:off x="142871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8" name="Shape 54"/>
          <p:cNvSpPr/>
          <p:nvPr/>
        </p:nvSpPr>
        <p:spPr>
          <a:xfrm>
            <a:off x="156206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0" name="Text 56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61" name="Text 57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29114" y="761981"/>
            <a:ext cx="6286343" cy="5333867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5714857" y="1238219"/>
            <a:ext cx="1904952" cy="4128874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4" name="Image 0" descr="/Users/sanghoon/Documents/GitHub/food-detector/presentation/image/rounded/page5_guide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60000">
            <a:off x="5714857" y="1238219"/>
            <a:ext cx="1904952" cy="4128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360000">
            <a:off x="9524762" y="1238219"/>
            <a:ext cx="1904952" cy="4128874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6" name="Image 1" descr="/Users/sanghoon/Documents/GitHub/food-detector/presentation/image/rounded/page5_guide_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9524762" y="1238219"/>
            <a:ext cx="1904952" cy="41288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29314" y="904852"/>
            <a:ext cx="2190695" cy="4748205"/>
          </a:xfrm>
          <a:prstGeom prst="roundRect">
            <a:avLst>
              <a:gd name="adj" fmla="val 1391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457200" dist="177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2" descr="/Users/sanghoon/Documents/GitHub/food-detector/presentation/image/rounded/page5_guide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314" y="904852"/>
            <a:ext cx="2190695" cy="47482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1981" y="1904952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9770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출품작 핵심내용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761981" y="2209745"/>
            <a:ext cx="4190895" cy="133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실시간 </a:t>
            </a:r>
            <a:pPr indent="0" marL="0">
              <a:buNone/>
            </a:pPr>
            <a:r>
              <a:rPr lang="en-US" sz="3300" b="1" dirty="0">
                <a:solidFill>
                  <a:srgbClr val="D9770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식중독 경고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&amp; 위생 가이드</a:t>
            </a:r>
            <a:endParaRPr lang="en-US" sz="3300" dirty="0"/>
          </a:p>
        </p:txBody>
      </p:sp>
      <p:sp>
        <p:nvSpPr>
          <p:cNvPr id="11" name="Text 6"/>
          <p:cNvSpPr/>
          <p:nvPr/>
        </p:nvSpPr>
        <p:spPr>
          <a:xfrm>
            <a:off x="761981" y="3428914"/>
            <a:ext cx="3809905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기온·습도·대기질·식약처 식중독 예측을 결합해 </a:t>
            </a:r>
            <a:pPr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자치구별 위험 단계</a:t>
            </a:r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 5단계로 안내합니다. 고위험 식재료별 위생 가이드도 함께 제공해요.</a:t>
            </a:r>
            <a:endParaRPr lang="en-US" sz="1125" dirty="0"/>
          </a:p>
        </p:txBody>
      </p:sp>
      <p:sp>
        <p:nvSpPr>
          <p:cNvPr id="12" name="Shape 7"/>
          <p:cNvSpPr/>
          <p:nvPr/>
        </p:nvSpPr>
        <p:spPr>
          <a:xfrm>
            <a:off x="761981" y="541006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895328" y="541006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1028674" y="541006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1162021" y="541006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1295368" y="541006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1428714" y="541006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1562061" y="541006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761981" y="554341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95328" y="554341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1028674" y="554341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1162021" y="554341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1295368" y="554341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428714" y="554341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1562061" y="554341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761981" y="567675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895328" y="567675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1028674" y="567675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1162021" y="567675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1295368" y="567675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1428714" y="567675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1562061" y="567675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761981" y="581010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895328" y="581010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5" name="Shape 30"/>
          <p:cNvSpPr/>
          <p:nvPr/>
        </p:nvSpPr>
        <p:spPr>
          <a:xfrm>
            <a:off x="1028674" y="581010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6" name="Shape 31"/>
          <p:cNvSpPr/>
          <p:nvPr/>
        </p:nvSpPr>
        <p:spPr>
          <a:xfrm>
            <a:off x="1162021" y="581010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1295368" y="581010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1428714" y="581010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1562061" y="581010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761981" y="594345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1" name="Shape 36"/>
          <p:cNvSpPr/>
          <p:nvPr/>
        </p:nvSpPr>
        <p:spPr>
          <a:xfrm>
            <a:off x="895328" y="594345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1028674" y="594345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3" name="Shape 38"/>
          <p:cNvSpPr/>
          <p:nvPr/>
        </p:nvSpPr>
        <p:spPr>
          <a:xfrm>
            <a:off x="1162021" y="594345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1295368" y="594345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5" name="Shape 40"/>
          <p:cNvSpPr/>
          <p:nvPr/>
        </p:nvSpPr>
        <p:spPr>
          <a:xfrm>
            <a:off x="1428714" y="594345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1562061" y="5943451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761981" y="607679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8" name="Shape 43"/>
          <p:cNvSpPr/>
          <p:nvPr/>
        </p:nvSpPr>
        <p:spPr>
          <a:xfrm>
            <a:off x="895328" y="607679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49" name="Shape 44"/>
          <p:cNvSpPr/>
          <p:nvPr/>
        </p:nvSpPr>
        <p:spPr>
          <a:xfrm>
            <a:off x="1028674" y="607679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0" name="Shape 45"/>
          <p:cNvSpPr/>
          <p:nvPr/>
        </p:nvSpPr>
        <p:spPr>
          <a:xfrm>
            <a:off x="1162021" y="607679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1" name="Shape 46"/>
          <p:cNvSpPr/>
          <p:nvPr/>
        </p:nvSpPr>
        <p:spPr>
          <a:xfrm>
            <a:off x="1295368" y="607679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2" name="Shape 47"/>
          <p:cNvSpPr/>
          <p:nvPr/>
        </p:nvSpPr>
        <p:spPr>
          <a:xfrm>
            <a:off x="1428714" y="607679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3" name="Shape 48"/>
          <p:cNvSpPr/>
          <p:nvPr/>
        </p:nvSpPr>
        <p:spPr>
          <a:xfrm>
            <a:off x="1562061" y="6076798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4" name="Shape 49"/>
          <p:cNvSpPr/>
          <p:nvPr/>
        </p:nvSpPr>
        <p:spPr>
          <a:xfrm>
            <a:off x="761981" y="621014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5" name="Shape 50"/>
          <p:cNvSpPr/>
          <p:nvPr/>
        </p:nvSpPr>
        <p:spPr>
          <a:xfrm>
            <a:off x="895328" y="621014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6" name="Shape 51"/>
          <p:cNvSpPr/>
          <p:nvPr/>
        </p:nvSpPr>
        <p:spPr>
          <a:xfrm>
            <a:off x="1028674" y="621014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7" name="Shape 52"/>
          <p:cNvSpPr/>
          <p:nvPr/>
        </p:nvSpPr>
        <p:spPr>
          <a:xfrm>
            <a:off x="1162021" y="621014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8" name="Shape 53"/>
          <p:cNvSpPr/>
          <p:nvPr/>
        </p:nvSpPr>
        <p:spPr>
          <a:xfrm>
            <a:off x="1295368" y="621014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59" name="Shape 54"/>
          <p:cNvSpPr/>
          <p:nvPr/>
        </p:nvSpPr>
        <p:spPr>
          <a:xfrm>
            <a:off x="1428714" y="621014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60" name="Shape 55"/>
          <p:cNvSpPr/>
          <p:nvPr/>
        </p:nvSpPr>
        <p:spPr>
          <a:xfrm>
            <a:off x="1562061" y="6210145"/>
            <a:ext cx="38099" cy="38099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61" name="Shape 56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2" name="Text 57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63" name="Text 58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85722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개발과정 및 방법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87" y="1047724"/>
            <a:ext cx="571485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 프로세스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87" y="1428714"/>
            <a:ext cx="571485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 달간 6단계로 진행한 식탐정의 개발 흐름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87" y="1857329"/>
            <a:ext cx="1758906" cy="2762181"/>
          </a:xfrm>
          <a:prstGeom prst="roundRect">
            <a:avLst>
              <a:gd name="adj" fmla="val 7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32" y="2066873"/>
            <a:ext cx="141601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3" b="1" spc="140" kern="0" dirty="0">
                <a:solidFill>
                  <a:srgbClr val="1E293B">
                    <a:alpha val="5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STARTING</a:t>
            </a:r>
            <a:endParaRPr lang="en-US" sz="713" dirty="0"/>
          </a:p>
        </p:txBody>
      </p:sp>
      <p:sp>
        <p:nvSpPr>
          <p:cNvPr id="7" name="Text 5"/>
          <p:cNvSpPr/>
          <p:nvPr/>
        </p:nvSpPr>
        <p:spPr>
          <a:xfrm>
            <a:off x="704832" y="2238319"/>
            <a:ext cx="141601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Research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04832" y="2657409"/>
            <a:ext cx="1416015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63" dirty="0">
                <a:solidFill>
                  <a:srgbClr val="1E293B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데이터 출처 조사·점수 모델 설계·디자인 시스템 구축</a:t>
            </a:r>
            <a:endParaRPr lang="en-US" sz="863" dirty="0"/>
          </a:p>
        </p:txBody>
      </p:sp>
      <p:sp>
        <p:nvSpPr>
          <p:cNvPr id="9" name="Text 7"/>
          <p:cNvSpPr/>
          <p:nvPr/>
        </p:nvSpPr>
        <p:spPr>
          <a:xfrm>
            <a:off x="704832" y="3952776"/>
            <a:ext cx="141601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1E293B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 days</a:t>
            </a:r>
            <a:endParaRPr lang="en-US" sz="825" dirty="0"/>
          </a:p>
        </p:txBody>
      </p:sp>
      <p:pic>
        <p:nvPicPr>
          <p:cNvPr id="10" name="Image 0" descr="/Users/sanghoon/Documents/GitHub/food-detector/presentation/image/logos/anthrop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32" y="4238519"/>
            <a:ext cx="247644" cy="247644"/>
          </a:xfrm>
          <a:prstGeom prst="rect">
            <a:avLst/>
          </a:prstGeom>
        </p:spPr>
      </p:pic>
      <p:pic>
        <p:nvPicPr>
          <p:cNvPr id="11" name="Image 1" descr="/Users/sanghoon/Documents/GitHub/food-detector/presentation/image/logo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25" y="4238519"/>
            <a:ext cx="247644" cy="2476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406590" y="1857329"/>
            <a:ext cx="1758906" cy="2762181"/>
          </a:xfrm>
          <a:prstGeom prst="roundRect">
            <a:avLst>
              <a:gd name="adj" fmla="val 7581"/>
            </a:avLst>
          </a:prstGeom>
          <a:solidFill>
            <a:srgbClr val="DCFCE7"/>
          </a:solidFill>
          <a:ln/>
        </p:spPr>
      </p:sp>
      <p:sp>
        <p:nvSpPr>
          <p:cNvPr id="13" name="Text 9"/>
          <p:cNvSpPr/>
          <p:nvPr/>
        </p:nvSpPr>
        <p:spPr>
          <a:xfrm>
            <a:off x="2578036" y="2066873"/>
            <a:ext cx="141601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3" b="1" spc="140" kern="0" dirty="0">
                <a:solidFill>
                  <a:srgbClr val="1E293B">
                    <a:alpha val="5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DATA</a:t>
            </a:r>
            <a:endParaRPr lang="en-US" sz="713" dirty="0"/>
          </a:p>
        </p:txBody>
      </p:sp>
      <p:sp>
        <p:nvSpPr>
          <p:cNvPr id="14" name="Text 10"/>
          <p:cNvSpPr/>
          <p:nvPr/>
        </p:nvSpPr>
        <p:spPr>
          <a:xfrm>
            <a:off x="2578036" y="2238319"/>
            <a:ext cx="141601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Pipeline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2578036" y="2657409"/>
            <a:ext cx="1416015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63" dirty="0">
                <a:solidFill>
                  <a:srgbClr val="1E293B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공공데이터 수집 → 좌표 변환 → AI 분류 → 자치구별 split</a:t>
            </a:r>
            <a:endParaRPr lang="en-US" sz="863" dirty="0"/>
          </a:p>
        </p:txBody>
      </p:sp>
      <p:sp>
        <p:nvSpPr>
          <p:cNvPr id="16" name="Text 12"/>
          <p:cNvSpPr/>
          <p:nvPr/>
        </p:nvSpPr>
        <p:spPr>
          <a:xfrm>
            <a:off x="2578036" y="3952776"/>
            <a:ext cx="141601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1E293B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 days</a:t>
            </a:r>
            <a:endParaRPr lang="en-US" sz="825" dirty="0"/>
          </a:p>
        </p:txBody>
      </p:sp>
      <p:pic>
        <p:nvPicPr>
          <p:cNvPr id="17" name="Image 2" descr="/Users/sanghoon/Documents/GitHub/food-detector/presentation/image/logos/nodej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036" y="4238519"/>
            <a:ext cx="247644" cy="247644"/>
          </a:xfrm>
          <a:prstGeom prst="rect">
            <a:avLst/>
          </a:prstGeom>
        </p:spPr>
      </p:pic>
      <p:pic>
        <p:nvPicPr>
          <p:cNvPr id="18" name="Image 3" descr="/Users/sanghoon/Documents/GitHub/food-detector/presentation/image/logos/anthrop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828" y="4238519"/>
            <a:ext cx="247644" cy="2476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79793" y="1857329"/>
            <a:ext cx="1758906" cy="2762181"/>
          </a:xfrm>
          <a:prstGeom prst="roundRect">
            <a:avLst>
              <a:gd name="adj" fmla="val 7581"/>
            </a:avLst>
          </a:prstGeom>
          <a:solidFill>
            <a:srgbClr val="FEF3C7"/>
          </a:solidFill>
          <a:ln/>
        </p:spPr>
      </p:sp>
      <p:sp>
        <p:nvSpPr>
          <p:cNvPr id="20" name="Text 14"/>
          <p:cNvSpPr/>
          <p:nvPr/>
        </p:nvSpPr>
        <p:spPr>
          <a:xfrm>
            <a:off x="4451239" y="2066873"/>
            <a:ext cx="141601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3" b="1" spc="140" kern="0" dirty="0">
                <a:solidFill>
                  <a:srgbClr val="1E293B">
                    <a:alpha val="5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DEVELOPMENT</a:t>
            </a:r>
            <a:endParaRPr lang="en-US" sz="713" dirty="0"/>
          </a:p>
        </p:txBody>
      </p:sp>
      <p:sp>
        <p:nvSpPr>
          <p:cNvPr id="21" name="Text 15"/>
          <p:cNvSpPr/>
          <p:nvPr/>
        </p:nvSpPr>
        <p:spPr>
          <a:xfrm>
            <a:off x="4451239" y="2238319"/>
            <a:ext cx="141601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Frontend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4451239" y="2657409"/>
            <a:ext cx="1416015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63" dirty="0">
                <a:solidFill>
                  <a:srgbClr val="1E293B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Expo PWA · 19개 화면 · 카카오 지도 · 검색 · 치즈 등급 UI</a:t>
            </a:r>
            <a:endParaRPr lang="en-US" sz="863" dirty="0"/>
          </a:p>
        </p:txBody>
      </p:sp>
      <p:sp>
        <p:nvSpPr>
          <p:cNvPr id="23" name="Text 17"/>
          <p:cNvSpPr/>
          <p:nvPr/>
        </p:nvSpPr>
        <p:spPr>
          <a:xfrm>
            <a:off x="4451239" y="3952776"/>
            <a:ext cx="141601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1E293B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 days</a:t>
            </a:r>
            <a:endParaRPr lang="en-US" sz="825" dirty="0"/>
          </a:p>
        </p:txBody>
      </p:sp>
      <p:pic>
        <p:nvPicPr>
          <p:cNvPr id="24" name="Image 4" descr="/Users/sanghoon/Documents/GitHub/food-detector/presentation/image/logos/reac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1239" y="4238519"/>
            <a:ext cx="247644" cy="247644"/>
          </a:xfrm>
          <a:prstGeom prst="rect">
            <a:avLst/>
          </a:prstGeom>
        </p:spPr>
      </p:pic>
      <p:pic>
        <p:nvPicPr>
          <p:cNvPr id="25" name="Image 5" descr="/Users/sanghoon/Documents/GitHub/food-detector/presentation/image/logos/exp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031" y="4238519"/>
            <a:ext cx="247644" cy="247644"/>
          </a:xfrm>
          <a:prstGeom prst="rect">
            <a:avLst/>
          </a:prstGeom>
        </p:spPr>
      </p:pic>
      <p:pic>
        <p:nvPicPr>
          <p:cNvPr id="26" name="Image 6" descr="/Users/sanghoon/Documents/GitHub/food-detector/presentation/image/logos/kaka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0823" y="4238519"/>
            <a:ext cx="247644" cy="24764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152996" y="1857329"/>
            <a:ext cx="1758906" cy="2762181"/>
          </a:xfrm>
          <a:prstGeom prst="roundRect">
            <a:avLst>
              <a:gd name="adj" fmla="val 7581"/>
            </a:avLst>
          </a:prstGeom>
          <a:solidFill>
            <a:srgbClr val="FBBF24"/>
          </a:solidFill>
          <a:ln/>
        </p:spPr>
      </p:sp>
      <p:sp>
        <p:nvSpPr>
          <p:cNvPr id="28" name="Text 19"/>
          <p:cNvSpPr/>
          <p:nvPr/>
        </p:nvSpPr>
        <p:spPr>
          <a:xfrm>
            <a:off x="6324442" y="2066873"/>
            <a:ext cx="141601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3" b="1" spc="140" kern="0" dirty="0">
                <a:solidFill>
                  <a:srgbClr val="1E293B">
                    <a:alpha val="5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DATABASE</a:t>
            </a:r>
            <a:endParaRPr lang="en-US" sz="713" dirty="0"/>
          </a:p>
        </p:txBody>
      </p:sp>
      <p:sp>
        <p:nvSpPr>
          <p:cNvPr id="29" name="Text 20"/>
          <p:cNvSpPr/>
          <p:nvPr/>
        </p:nvSpPr>
        <p:spPr>
          <a:xfrm>
            <a:off x="6324442" y="2238319"/>
            <a:ext cx="141601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Backend</a:t>
            </a:r>
            <a:endParaRPr lang="en-US" sz="1950" dirty="0"/>
          </a:p>
        </p:txBody>
      </p:sp>
      <p:sp>
        <p:nvSpPr>
          <p:cNvPr id="30" name="Text 21"/>
          <p:cNvSpPr/>
          <p:nvPr/>
        </p:nvSpPr>
        <p:spPr>
          <a:xfrm>
            <a:off x="6324442" y="2657409"/>
            <a:ext cx="1416015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63" dirty="0">
                <a:solidFill>
                  <a:srgbClr val="1E293B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Supabase Postgres + Storage — 멀티유저 리뷰·좋아요·사장님 인증</a:t>
            </a:r>
            <a:endParaRPr lang="en-US" sz="863" dirty="0"/>
          </a:p>
        </p:txBody>
      </p:sp>
      <p:sp>
        <p:nvSpPr>
          <p:cNvPr id="31" name="Text 22"/>
          <p:cNvSpPr/>
          <p:nvPr/>
        </p:nvSpPr>
        <p:spPr>
          <a:xfrm>
            <a:off x="6324442" y="3952776"/>
            <a:ext cx="141601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1E293B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 days</a:t>
            </a:r>
            <a:endParaRPr lang="en-US" sz="825" dirty="0"/>
          </a:p>
        </p:txBody>
      </p:sp>
      <p:pic>
        <p:nvPicPr>
          <p:cNvPr id="32" name="Image 7" descr="/Users/sanghoon/Documents/GitHub/food-detector/presentation/image/logos/sup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2" y="4238519"/>
            <a:ext cx="247644" cy="24764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8026199" y="1857329"/>
            <a:ext cx="1758906" cy="2762181"/>
          </a:xfrm>
          <a:prstGeom prst="roundRect">
            <a:avLst>
              <a:gd name="adj" fmla="val 7581"/>
            </a:avLst>
          </a:prstGeom>
          <a:solidFill>
            <a:srgbClr val="FB923C"/>
          </a:solidFill>
          <a:ln/>
        </p:spPr>
      </p:sp>
      <p:sp>
        <p:nvSpPr>
          <p:cNvPr id="34" name="Text 24"/>
          <p:cNvSpPr/>
          <p:nvPr/>
        </p:nvSpPr>
        <p:spPr>
          <a:xfrm>
            <a:off x="8197645" y="2066873"/>
            <a:ext cx="141601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3" b="1" spc="140" kern="0" dirty="0">
                <a:solidFill>
                  <a:srgbClr val="FFFFFF">
                    <a:alpha val="8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REFINEMENT</a:t>
            </a:r>
            <a:endParaRPr lang="en-US" sz="713" dirty="0"/>
          </a:p>
        </p:txBody>
      </p:sp>
      <p:sp>
        <p:nvSpPr>
          <p:cNvPr id="35" name="Text 25"/>
          <p:cNvSpPr/>
          <p:nvPr/>
        </p:nvSpPr>
        <p:spPr>
          <a:xfrm>
            <a:off x="8197645" y="2238319"/>
            <a:ext cx="141601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Polish</a:t>
            </a:r>
            <a:endParaRPr lang="en-US" sz="1950" dirty="0"/>
          </a:p>
        </p:txBody>
      </p:sp>
      <p:sp>
        <p:nvSpPr>
          <p:cNvPr id="36" name="Text 26"/>
          <p:cNvSpPr/>
          <p:nvPr/>
        </p:nvSpPr>
        <p:spPr>
          <a:xfrm>
            <a:off x="8197645" y="2657409"/>
            <a:ext cx="1416015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63" dirty="0">
                <a:solidFill>
                  <a:srgbClr val="FFFFFF">
                    <a:alpha val="9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상세 보고서 리디자인·데이터 출처 정책·위생 가이드 추가</a:t>
            </a:r>
            <a:endParaRPr lang="en-US" sz="863" dirty="0"/>
          </a:p>
        </p:txBody>
      </p:sp>
      <p:sp>
        <p:nvSpPr>
          <p:cNvPr id="37" name="Text 27"/>
          <p:cNvSpPr/>
          <p:nvPr/>
        </p:nvSpPr>
        <p:spPr>
          <a:xfrm>
            <a:off x="8197645" y="3952776"/>
            <a:ext cx="141601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 days</a:t>
            </a:r>
            <a:endParaRPr lang="en-US" sz="825" dirty="0"/>
          </a:p>
        </p:txBody>
      </p:sp>
      <p:pic>
        <p:nvPicPr>
          <p:cNvPr id="38" name="Image 8" descr="/Users/sanghoon/Documents/GitHub/food-detector/presentation/image/logos/reac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7645" y="4238519"/>
            <a:ext cx="247644" cy="247644"/>
          </a:xfrm>
          <a:prstGeom prst="rect">
            <a:avLst/>
          </a:prstGeom>
        </p:spPr>
      </p:pic>
      <p:pic>
        <p:nvPicPr>
          <p:cNvPr id="39" name="Image 9" descr="/Users/sanghoon/Documents/GitHub/food-detector/presentation/image/logos/typescrip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2437" y="4238519"/>
            <a:ext cx="247644" cy="247644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9899403" y="1857329"/>
            <a:ext cx="1758906" cy="2762181"/>
          </a:xfrm>
          <a:prstGeom prst="roundRect">
            <a:avLst>
              <a:gd name="adj" fmla="val 7581"/>
            </a:avLst>
          </a:prstGeom>
          <a:solidFill>
            <a:srgbClr val="22C55E"/>
          </a:solidFill>
          <a:ln/>
        </p:spPr>
      </p:sp>
      <p:sp>
        <p:nvSpPr>
          <p:cNvPr id="41" name="Text 29"/>
          <p:cNvSpPr/>
          <p:nvPr/>
        </p:nvSpPr>
        <p:spPr>
          <a:xfrm>
            <a:off x="10070848" y="2066873"/>
            <a:ext cx="141601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3" b="1" spc="140" kern="0" dirty="0">
                <a:solidFill>
                  <a:srgbClr val="FFFFFF">
                    <a:alpha val="8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DELIVERY</a:t>
            </a:r>
            <a:endParaRPr lang="en-US" sz="713" dirty="0"/>
          </a:p>
        </p:txBody>
      </p:sp>
      <p:sp>
        <p:nvSpPr>
          <p:cNvPr id="42" name="Text 30"/>
          <p:cNvSpPr/>
          <p:nvPr/>
        </p:nvSpPr>
        <p:spPr>
          <a:xfrm>
            <a:off x="10070848" y="2238319"/>
            <a:ext cx="141601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Deploy</a:t>
            </a:r>
            <a:endParaRPr lang="en-US" sz="1950" dirty="0"/>
          </a:p>
        </p:txBody>
      </p:sp>
      <p:sp>
        <p:nvSpPr>
          <p:cNvPr id="43" name="Text 31"/>
          <p:cNvSpPr/>
          <p:nvPr/>
        </p:nvSpPr>
        <p:spPr>
          <a:xfrm>
            <a:off x="10070848" y="2657409"/>
            <a:ext cx="1416015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63" dirty="0">
                <a:solidFill>
                  <a:srgbClr val="FFFFFF">
                    <a:alpha val="9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Vercel 자동 배포·시연 리허설·공모전 제출</a:t>
            </a:r>
            <a:endParaRPr lang="en-US" sz="863" dirty="0"/>
          </a:p>
        </p:txBody>
      </p:sp>
      <p:sp>
        <p:nvSpPr>
          <p:cNvPr id="44" name="Text 32"/>
          <p:cNvSpPr/>
          <p:nvPr/>
        </p:nvSpPr>
        <p:spPr>
          <a:xfrm>
            <a:off x="10070848" y="3952776"/>
            <a:ext cx="141601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 days</a:t>
            </a:r>
            <a:endParaRPr lang="en-US" sz="825" dirty="0"/>
          </a:p>
        </p:txBody>
      </p:sp>
      <p:pic>
        <p:nvPicPr>
          <p:cNvPr id="45" name="Image 10" descr="/Users/sanghoon/Documents/GitHub/food-detector/presentation/image/logos/verce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70848" y="4238519"/>
            <a:ext cx="247644" cy="247644"/>
          </a:xfrm>
          <a:prstGeom prst="rect">
            <a:avLst/>
          </a:prstGeom>
        </p:spPr>
      </p:pic>
      <p:pic>
        <p:nvPicPr>
          <p:cNvPr id="46" name="Image 11" descr="/Users/sanghoon/Documents/GitHub/food-detector/presentation/image/logos/githu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75641" y="4238519"/>
            <a:ext cx="247644" cy="24764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33387" y="5143371"/>
            <a:ext cx="278123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Week 1</a:t>
            </a:r>
            <a:endParaRPr lang="en-US" sz="825" dirty="0"/>
          </a:p>
        </p:txBody>
      </p:sp>
      <p:sp>
        <p:nvSpPr>
          <p:cNvPr id="48" name="Text 34"/>
          <p:cNvSpPr/>
          <p:nvPr/>
        </p:nvSpPr>
        <p:spPr>
          <a:xfrm>
            <a:off x="3314617" y="5143371"/>
            <a:ext cx="278123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Week 2</a:t>
            </a:r>
            <a:endParaRPr lang="en-US" sz="825" dirty="0"/>
          </a:p>
        </p:txBody>
      </p:sp>
      <p:sp>
        <p:nvSpPr>
          <p:cNvPr id="49" name="Text 35"/>
          <p:cNvSpPr/>
          <p:nvPr/>
        </p:nvSpPr>
        <p:spPr>
          <a:xfrm>
            <a:off x="6095848" y="5143371"/>
            <a:ext cx="278123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Week 3</a:t>
            </a:r>
            <a:endParaRPr lang="en-US" sz="825" dirty="0"/>
          </a:p>
        </p:txBody>
      </p:sp>
      <p:sp>
        <p:nvSpPr>
          <p:cNvPr id="50" name="Text 36"/>
          <p:cNvSpPr/>
          <p:nvPr/>
        </p:nvSpPr>
        <p:spPr>
          <a:xfrm>
            <a:off x="8877078" y="5143371"/>
            <a:ext cx="278123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Week 4</a:t>
            </a:r>
            <a:endParaRPr lang="en-US" sz="825" dirty="0"/>
          </a:p>
        </p:txBody>
      </p:sp>
      <p:sp>
        <p:nvSpPr>
          <p:cNvPr id="51" name="Shape 37"/>
          <p:cNvSpPr/>
          <p:nvPr/>
        </p:nvSpPr>
        <p:spPr>
          <a:xfrm>
            <a:off x="533387" y="5352916"/>
            <a:ext cx="11124922" cy="95247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52" name="Shape 38"/>
          <p:cNvSpPr/>
          <p:nvPr/>
        </p:nvSpPr>
        <p:spPr>
          <a:xfrm>
            <a:off x="3314617" y="5352916"/>
            <a:ext cx="9525" cy="952476"/>
          </a:xfrm>
          <a:prstGeom prst="rect">
            <a:avLst/>
          </a:prstGeom>
          <a:solidFill>
            <a:srgbClr val="0F172A">
              <a:alpha val="4000"/>
            </a:srgbClr>
          </a:solidFill>
          <a:ln/>
        </p:spPr>
      </p:sp>
      <p:sp>
        <p:nvSpPr>
          <p:cNvPr id="53" name="Shape 39"/>
          <p:cNvSpPr/>
          <p:nvPr/>
        </p:nvSpPr>
        <p:spPr>
          <a:xfrm>
            <a:off x="6095848" y="5352916"/>
            <a:ext cx="9525" cy="952476"/>
          </a:xfrm>
          <a:prstGeom prst="rect">
            <a:avLst/>
          </a:prstGeom>
          <a:solidFill>
            <a:srgbClr val="0F172A">
              <a:alpha val="4000"/>
            </a:srgbClr>
          </a:solidFill>
          <a:ln/>
        </p:spPr>
      </p:sp>
      <p:sp>
        <p:nvSpPr>
          <p:cNvPr id="54" name="Shape 40"/>
          <p:cNvSpPr/>
          <p:nvPr/>
        </p:nvSpPr>
        <p:spPr>
          <a:xfrm>
            <a:off x="8877078" y="5352916"/>
            <a:ext cx="9525" cy="952476"/>
          </a:xfrm>
          <a:prstGeom prst="rect">
            <a:avLst/>
          </a:prstGeom>
          <a:solidFill>
            <a:srgbClr val="0F172A">
              <a:alpha val="4000"/>
            </a:srgbClr>
          </a:solidFill>
          <a:ln/>
        </p:spPr>
      </p:sp>
      <p:sp>
        <p:nvSpPr>
          <p:cNvPr id="55" name="Shape 41"/>
          <p:cNvSpPr/>
          <p:nvPr/>
        </p:nvSpPr>
        <p:spPr>
          <a:xfrm>
            <a:off x="609585" y="5429114"/>
            <a:ext cx="1036294" cy="114297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56" name="Shape 42"/>
          <p:cNvSpPr/>
          <p:nvPr/>
        </p:nvSpPr>
        <p:spPr>
          <a:xfrm>
            <a:off x="1722077" y="5562461"/>
            <a:ext cx="1815039" cy="114297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3613314" y="5695808"/>
            <a:ext cx="3595026" cy="114297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Shape 44"/>
          <p:cNvSpPr/>
          <p:nvPr/>
        </p:nvSpPr>
        <p:spPr>
          <a:xfrm>
            <a:off x="5838298" y="5829154"/>
            <a:ext cx="1370042" cy="114297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59" name="Shape 45"/>
          <p:cNvSpPr/>
          <p:nvPr/>
        </p:nvSpPr>
        <p:spPr>
          <a:xfrm>
            <a:off x="7284538" y="5962501"/>
            <a:ext cx="2482534" cy="114297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0" name="Shape 46"/>
          <p:cNvSpPr/>
          <p:nvPr/>
        </p:nvSpPr>
        <p:spPr>
          <a:xfrm>
            <a:off x="9843270" y="6095848"/>
            <a:ext cx="1815039" cy="114297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61" name="Shape 47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2" name="Text 48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63" name="Text 49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532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867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202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9536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2871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06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198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532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867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202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9536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2871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6206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198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532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867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2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9536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2871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6206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6198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532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867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6202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9536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2871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56206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198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532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2867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6202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9536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2871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6206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198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9532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867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6202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9536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871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6206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198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9532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2867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6202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9536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42871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56206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1981" y="123821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개발과정 및 방법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1981" y="1523962"/>
            <a:ext cx="3619410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기술 스택</a:t>
            </a:r>
            <a:endParaRPr lang="en-US" sz="3300" dirty="0"/>
          </a:p>
        </p:txBody>
      </p:sp>
      <p:sp>
        <p:nvSpPr>
          <p:cNvPr id="53" name="Text 51"/>
          <p:cNvSpPr/>
          <p:nvPr/>
        </p:nvSpPr>
        <p:spPr>
          <a:xfrm>
            <a:off x="761981" y="2381190"/>
            <a:ext cx="3619410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모바일 우선 반응형 PWA</a:t>
            </a:r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앱스토어 심사를 우회하고, Supabase 백엔드 + Anthropic Claude로 외부 데이터를 빠르게 통합했어요.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4800480" y="1142971"/>
            <a:ext cx="1600160" cy="1523962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55" name="Image 0" descr="/Users/sanghoon/Documents/GitHub/food-detector/presentation/image/logo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867" y="1333467"/>
            <a:ext cx="533387" cy="533387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4800480" y="1981150"/>
            <a:ext cx="160016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React Native</a:t>
            </a:r>
            <a:endParaRPr lang="en-US" sz="975" dirty="0"/>
          </a:p>
        </p:txBody>
      </p:sp>
      <p:sp>
        <p:nvSpPr>
          <p:cNvPr id="57" name="Text 54"/>
          <p:cNvSpPr/>
          <p:nvPr/>
        </p:nvSpPr>
        <p:spPr>
          <a:xfrm>
            <a:off x="4800480" y="2171646"/>
            <a:ext cx="160016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Frontend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6553036" y="1142971"/>
            <a:ext cx="1600160" cy="1523962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59" name="Image 1" descr="/Users/sanghoon/Documents/GitHub/food-detector/presentation/image/logos/ex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23" y="1333467"/>
            <a:ext cx="533387" cy="533387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6553036" y="1981150"/>
            <a:ext cx="160016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Expo</a:t>
            </a:r>
            <a:endParaRPr lang="en-US" sz="975" dirty="0"/>
          </a:p>
        </p:txBody>
      </p:sp>
      <p:sp>
        <p:nvSpPr>
          <p:cNvPr id="61" name="Text 57"/>
          <p:cNvSpPr/>
          <p:nvPr/>
        </p:nvSpPr>
        <p:spPr>
          <a:xfrm>
            <a:off x="6553036" y="2171646"/>
            <a:ext cx="160016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Frontend</a:t>
            </a:r>
            <a:endParaRPr lang="en-US" sz="750" dirty="0"/>
          </a:p>
        </p:txBody>
      </p:sp>
      <p:sp>
        <p:nvSpPr>
          <p:cNvPr id="62" name="Shape 58"/>
          <p:cNvSpPr/>
          <p:nvPr/>
        </p:nvSpPr>
        <p:spPr>
          <a:xfrm>
            <a:off x="8305592" y="1142971"/>
            <a:ext cx="1600160" cy="1523962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63" name="Image 2" descr="/Users/sanghoon/Documents/GitHub/food-detector/presentation/image/logos/typescri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979" y="1333467"/>
            <a:ext cx="533387" cy="533387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8305592" y="1981150"/>
            <a:ext cx="160016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TypeScript</a:t>
            </a:r>
            <a:endParaRPr lang="en-US" sz="975" dirty="0"/>
          </a:p>
        </p:txBody>
      </p:sp>
      <p:sp>
        <p:nvSpPr>
          <p:cNvPr id="65" name="Text 60"/>
          <p:cNvSpPr/>
          <p:nvPr/>
        </p:nvSpPr>
        <p:spPr>
          <a:xfrm>
            <a:off x="8305592" y="2171646"/>
            <a:ext cx="160016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Language</a:t>
            </a:r>
            <a:endParaRPr lang="en-US" sz="750" dirty="0"/>
          </a:p>
        </p:txBody>
      </p:sp>
      <p:sp>
        <p:nvSpPr>
          <p:cNvPr id="66" name="Shape 61"/>
          <p:cNvSpPr/>
          <p:nvPr/>
        </p:nvSpPr>
        <p:spPr>
          <a:xfrm>
            <a:off x="10058149" y="1142971"/>
            <a:ext cx="1600160" cy="1523962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67" name="Image 3" descr="/Users/sanghoon/Documents/GitHub/food-detector/presentation/image/logos/kak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535" y="1333467"/>
            <a:ext cx="533387" cy="533387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10058149" y="1981150"/>
            <a:ext cx="160016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Kakao Maps</a:t>
            </a:r>
            <a:endParaRPr lang="en-US" sz="975" dirty="0"/>
          </a:p>
        </p:txBody>
      </p:sp>
      <p:sp>
        <p:nvSpPr>
          <p:cNvPr id="69" name="Text 63"/>
          <p:cNvSpPr/>
          <p:nvPr/>
        </p:nvSpPr>
        <p:spPr>
          <a:xfrm>
            <a:off x="10058149" y="2171646"/>
            <a:ext cx="160016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SDK</a:t>
            </a:r>
            <a:endParaRPr lang="en-US" sz="750" dirty="0"/>
          </a:p>
        </p:txBody>
      </p:sp>
      <p:sp>
        <p:nvSpPr>
          <p:cNvPr id="70" name="Shape 64"/>
          <p:cNvSpPr/>
          <p:nvPr/>
        </p:nvSpPr>
        <p:spPr>
          <a:xfrm>
            <a:off x="4800480" y="2819330"/>
            <a:ext cx="1600160" cy="1523962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71" name="Image 4" descr="/Users/sanghoon/Documents/GitHub/food-detector/presentation/image/logos/sup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867" y="3009825"/>
            <a:ext cx="533387" cy="533387"/>
          </a:xfrm>
          <a:prstGeom prst="rect">
            <a:avLst/>
          </a:prstGeom>
        </p:spPr>
      </p:pic>
      <p:sp>
        <p:nvSpPr>
          <p:cNvPr id="72" name="Text 65"/>
          <p:cNvSpPr/>
          <p:nvPr/>
        </p:nvSpPr>
        <p:spPr>
          <a:xfrm>
            <a:off x="4800480" y="3657509"/>
            <a:ext cx="160016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Supabase</a:t>
            </a:r>
            <a:endParaRPr lang="en-US" sz="975" dirty="0"/>
          </a:p>
        </p:txBody>
      </p:sp>
      <p:sp>
        <p:nvSpPr>
          <p:cNvPr id="73" name="Text 66"/>
          <p:cNvSpPr/>
          <p:nvPr/>
        </p:nvSpPr>
        <p:spPr>
          <a:xfrm>
            <a:off x="4800480" y="3848004"/>
            <a:ext cx="160016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Backend</a:t>
            </a:r>
            <a:endParaRPr lang="en-US" sz="750" dirty="0"/>
          </a:p>
        </p:txBody>
      </p:sp>
      <p:sp>
        <p:nvSpPr>
          <p:cNvPr id="74" name="Shape 67"/>
          <p:cNvSpPr/>
          <p:nvPr/>
        </p:nvSpPr>
        <p:spPr>
          <a:xfrm>
            <a:off x="6553036" y="2819330"/>
            <a:ext cx="1600160" cy="1523962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75" name="Image 5" descr="/Users/sanghoon/Documents/GitHub/food-detector/presentation/image/logos/verce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423" y="3009825"/>
            <a:ext cx="533387" cy="533387"/>
          </a:xfrm>
          <a:prstGeom prst="rect">
            <a:avLst/>
          </a:prstGeom>
        </p:spPr>
      </p:pic>
      <p:sp>
        <p:nvSpPr>
          <p:cNvPr id="76" name="Text 68"/>
          <p:cNvSpPr/>
          <p:nvPr/>
        </p:nvSpPr>
        <p:spPr>
          <a:xfrm>
            <a:off x="6553036" y="3657509"/>
            <a:ext cx="160016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Vercel</a:t>
            </a:r>
            <a:endParaRPr lang="en-US" sz="975" dirty="0"/>
          </a:p>
        </p:txBody>
      </p:sp>
      <p:sp>
        <p:nvSpPr>
          <p:cNvPr id="77" name="Text 69"/>
          <p:cNvSpPr/>
          <p:nvPr/>
        </p:nvSpPr>
        <p:spPr>
          <a:xfrm>
            <a:off x="6553036" y="3848004"/>
            <a:ext cx="160016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Deploy</a:t>
            </a:r>
            <a:endParaRPr lang="en-US" sz="750" dirty="0"/>
          </a:p>
        </p:txBody>
      </p:sp>
      <p:sp>
        <p:nvSpPr>
          <p:cNvPr id="78" name="Shape 70"/>
          <p:cNvSpPr/>
          <p:nvPr/>
        </p:nvSpPr>
        <p:spPr>
          <a:xfrm>
            <a:off x="8305592" y="2819330"/>
            <a:ext cx="1600160" cy="1523962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79" name="Image 6" descr="/Users/sanghoon/Documents/GitHub/food-detector/presentation/image/logos/nodej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8979" y="3009825"/>
            <a:ext cx="533387" cy="533387"/>
          </a:xfrm>
          <a:prstGeom prst="rect">
            <a:avLst/>
          </a:prstGeom>
        </p:spPr>
      </p:pic>
      <p:sp>
        <p:nvSpPr>
          <p:cNvPr id="80" name="Text 71"/>
          <p:cNvSpPr/>
          <p:nvPr/>
        </p:nvSpPr>
        <p:spPr>
          <a:xfrm>
            <a:off x="8305592" y="3657509"/>
            <a:ext cx="160016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Node.js</a:t>
            </a:r>
            <a:endParaRPr lang="en-US" sz="975" dirty="0"/>
          </a:p>
        </p:txBody>
      </p:sp>
      <p:sp>
        <p:nvSpPr>
          <p:cNvPr id="81" name="Text 72"/>
          <p:cNvSpPr/>
          <p:nvPr/>
        </p:nvSpPr>
        <p:spPr>
          <a:xfrm>
            <a:off x="8305592" y="3848004"/>
            <a:ext cx="160016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Data</a:t>
            </a:r>
            <a:endParaRPr lang="en-US" sz="750" dirty="0"/>
          </a:p>
        </p:txBody>
      </p:sp>
      <p:sp>
        <p:nvSpPr>
          <p:cNvPr id="82" name="Shape 73"/>
          <p:cNvSpPr/>
          <p:nvPr/>
        </p:nvSpPr>
        <p:spPr>
          <a:xfrm>
            <a:off x="10058149" y="2819330"/>
            <a:ext cx="1600160" cy="1523962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83" name="Image 7" descr="/Users/sanghoon/Documents/GitHub/food-detector/presentation/image/logos/anthropi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1535" y="3009825"/>
            <a:ext cx="533387" cy="533387"/>
          </a:xfrm>
          <a:prstGeom prst="rect">
            <a:avLst/>
          </a:prstGeom>
        </p:spPr>
      </p:pic>
      <p:sp>
        <p:nvSpPr>
          <p:cNvPr id="84" name="Text 74"/>
          <p:cNvSpPr/>
          <p:nvPr/>
        </p:nvSpPr>
        <p:spPr>
          <a:xfrm>
            <a:off x="10058149" y="3657509"/>
            <a:ext cx="160016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Claude API</a:t>
            </a:r>
            <a:endParaRPr lang="en-US" sz="975" dirty="0"/>
          </a:p>
        </p:txBody>
      </p:sp>
      <p:sp>
        <p:nvSpPr>
          <p:cNvPr id="85" name="Text 75"/>
          <p:cNvSpPr/>
          <p:nvPr/>
        </p:nvSpPr>
        <p:spPr>
          <a:xfrm>
            <a:off x="10058149" y="3848004"/>
            <a:ext cx="160016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</a:t>
            </a:r>
            <a:endParaRPr lang="en-US" sz="750" dirty="0"/>
          </a:p>
        </p:txBody>
      </p:sp>
      <p:sp>
        <p:nvSpPr>
          <p:cNvPr id="86" name="Shape 76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7" name="Text 77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88" name="Text 78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532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867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202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9536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2871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06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198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532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867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202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9536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2871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6206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198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532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867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2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9536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2871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6206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6198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532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867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6202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9536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2871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56206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198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532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2867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6202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9536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2871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6206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198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9532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867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6202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9536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871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6206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198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9532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2867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6202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9536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42871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56206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1981" y="123821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개발과정 및 방법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1981" y="1523962"/>
            <a:ext cx="3428914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활용 공공데이터</a:t>
            </a:r>
            <a:endParaRPr lang="en-US" sz="3300" dirty="0"/>
          </a:p>
        </p:txBody>
      </p:sp>
      <p:sp>
        <p:nvSpPr>
          <p:cNvPr id="53" name="Text 51"/>
          <p:cNvSpPr/>
          <p:nvPr/>
        </p:nvSpPr>
        <p:spPr>
          <a:xfrm>
            <a:off x="761981" y="2381190"/>
            <a:ext cx="3428914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5개 기관 · </a:t>
            </a:r>
            <a:pPr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37 데이터셋 + 1 SDK</a:t>
            </a:r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 통합해 서울 식당 마스터를 구축했어요.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761981" y="3619410"/>
            <a:ext cx="3428914" cy="66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151,592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761981" y="4286143"/>
            <a:ext cx="3428914" cy="66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서울 영업·정상 식당</a:t>
            </a:r>
            <a:endParaRPr lang="en-US" sz="975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(일반 120,762 + 휴게 30,830)</a:t>
            </a:r>
            <a:endParaRPr lang="en-US" sz="975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좌표 확보율 </a:t>
            </a:r>
            <a:pPr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99.8%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4800480" y="1238219"/>
            <a:ext cx="3362241" cy="857229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990975" y="1390615"/>
            <a:ext cx="298125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spc="10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4990975" y="1543011"/>
            <a:ext cx="29812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서울 열린데이터광장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990975" y="1771606"/>
            <a:ext cx="29812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3종 · 일반·휴게음식점 · 생활인구</a:t>
            </a:r>
            <a:endParaRPr lang="en-US" sz="863" dirty="0"/>
          </a:p>
        </p:txBody>
      </p:sp>
      <p:sp>
        <p:nvSpPr>
          <p:cNvPr id="60" name="Shape 58"/>
          <p:cNvSpPr/>
          <p:nvPr/>
        </p:nvSpPr>
        <p:spPr>
          <a:xfrm>
            <a:off x="8296068" y="1238219"/>
            <a:ext cx="3362241" cy="857229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486563" y="1390615"/>
            <a:ext cx="298125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spc="10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8486563" y="1543011"/>
            <a:ext cx="29812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공공데이터포털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486563" y="1771606"/>
            <a:ext cx="29812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4종 · 모범 · 위생등급 · 안심 · 착한가격</a:t>
            </a:r>
            <a:endParaRPr lang="en-US" sz="863" dirty="0"/>
          </a:p>
        </p:txBody>
      </p:sp>
      <p:sp>
        <p:nvSpPr>
          <p:cNvPr id="64" name="Shape 62"/>
          <p:cNvSpPr/>
          <p:nvPr/>
        </p:nvSpPr>
        <p:spPr>
          <a:xfrm>
            <a:off x="4800480" y="2228794"/>
            <a:ext cx="3362241" cy="857229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990975" y="2381190"/>
            <a:ext cx="298125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spc="10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4990975" y="2533587"/>
            <a:ext cx="29812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식품안전나라 (식약처)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990975" y="2762181"/>
            <a:ext cx="29812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2종 · 행정처분(I2630) · 위생등급 Excel</a:t>
            </a:r>
            <a:endParaRPr lang="en-US" sz="863" dirty="0"/>
          </a:p>
        </p:txBody>
      </p:sp>
      <p:sp>
        <p:nvSpPr>
          <p:cNvPr id="68" name="Shape 66"/>
          <p:cNvSpPr/>
          <p:nvPr/>
        </p:nvSpPr>
        <p:spPr>
          <a:xfrm>
            <a:off x="8296068" y="2228794"/>
            <a:ext cx="3362241" cy="857229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8486563" y="2381190"/>
            <a:ext cx="298125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spc="10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8486563" y="2533587"/>
            <a:ext cx="29812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새올전자민원창구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486563" y="2762181"/>
            <a:ext cx="29812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25개 자치구 · 행정처분 raw 3,734건</a:t>
            </a:r>
            <a:endParaRPr lang="en-US" sz="863" dirty="0"/>
          </a:p>
        </p:txBody>
      </p:sp>
      <p:sp>
        <p:nvSpPr>
          <p:cNvPr id="72" name="Shape 70"/>
          <p:cNvSpPr/>
          <p:nvPr/>
        </p:nvSpPr>
        <p:spPr>
          <a:xfrm>
            <a:off x="4800480" y="3219370"/>
            <a:ext cx="6857829" cy="857229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990975" y="3371766"/>
            <a:ext cx="647683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spc="10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4990975" y="3524162"/>
            <a:ext cx="647683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카카오 (developers.kakao.com)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990975" y="3752756"/>
            <a:ext cx="647683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Local API 3종 + 지도 SDK — 좌표 보강 · 신규 식당 발견 · 지도 렌더</a:t>
            </a:r>
            <a:endParaRPr lang="en-US" sz="863" dirty="0"/>
          </a:p>
        </p:txBody>
      </p:sp>
      <p:sp>
        <p:nvSpPr>
          <p:cNvPr id="76" name="Shape 74"/>
          <p:cNvSpPr/>
          <p:nvPr/>
        </p:nvSpPr>
        <p:spPr>
          <a:xfrm>
            <a:off x="4800480" y="5143371"/>
            <a:ext cx="1295368" cy="761981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</p:sp>
      <p:sp>
        <p:nvSpPr>
          <p:cNvPr id="77" name="Text 75"/>
          <p:cNvSpPr/>
          <p:nvPr/>
        </p:nvSpPr>
        <p:spPr>
          <a:xfrm>
            <a:off x="4800480" y="5257669"/>
            <a:ext cx="1295368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5,931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4800480" y="5524362"/>
            <a:ext cx="129536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위생등급</a:t>
            </a:r>
            <a:endParaRPr lang="en-US" sz="788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+35점</a:t>
            </a:r>
            <a:endParaRPr lang="en-US" sz="788" dirty="0"/>
          </a:p>
        </p:txBody>
      </p:sp>
      <p:sp>
        <p:nvSpPr>
          <p:cNvPr id="79" name="Shape 77"/>
          <p:cNvSpPr/>
          <p:nvPr/>
        </p:nvSpPr>
        <p:spPr>
          <a:xfrm>
            <a:off x="6191095" y="5143371"/>
            <a:ext cx="1295368" cy="761981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</p:sp>
      <p:sp>
        <p:nvSpPr>
          <p:cNvPr id="80" name="Text 78"/>
          <p:cNvSpPr/>
          <p:nvPr/>
        </p:nvSpPr>
        <p:spPr>
          <a:xfrm>
            <a:off x="6191095" y="5257669"/>
            <a:ext cx="1295368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10,499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6191095" y="5524362"/>
            <a:ext cx="129536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모범음식점</a:t>
            </a:r>
            <a:endParaRPr lang="en-US" sz="788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+25점</a:t>
            </a:r>
            <a:endParaRPr lang="en-US" sz="788" dirty="0"/>
          </a:p>
        </p:txBody>
      </p:sp>
      <p:sp>
        <p:nvSpPr>
          <p:cNvPr id="82" name="Shape 80"/>
          <p:cNvSpPr/>
          <p:nvPr/>
        </p:nvSpPr>
        <p:spPr>
          <a:xfrm>
            <a:off x="7581710" y="5143371"/>
            <a:ext cx="1295368" cy="761981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</p:sp>
      <p:sp>
        <p:nvSpPr>
          <p:cNvPr id="83" name="Text 81"/>
          <p:cNvSpPr/>
          <p:nvPr/>
        </p:nvSpPr>
        <p:spPr>
          <a:xfrm>
            <a:off x="7581710" y="5257669"/>
            <a:ext cx="1295368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2,191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7581710" y="5524362"/>
            <a:ext cx="129536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안심식당</a:t>
            </a:r>
            <a:endParaRPr lang="en-US" sz="788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+15점</a:t>
            </a:r>
            <a:endParaRPr lang="en-US" sz="788" dirty="0"/>
          </a:p>
        </p:txBody>
      </p:sp>
      <p:sp>
        <p:nvSpPr>
          <p:cNvPr id="85" name="Shape 83"/>
          <p:cNvSpPr/>
          <p:nvPr/>
        </p:nvSpPr>
        <p:spPr>
          <a:xfrm>
            <a:off x="8972326" y="5143371"/>
            <a:ext cx="1295368" cy="761981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</p:sp>
      <p:sp>
        <p:nvSpPr>
          <p:cNvPr id="86" name="Text 84"/>
          <p:cNvSpPr/>
          <p:nvPr/>
        </p:nvSpPr>
        <p:spPr>
          <a:xfrm>
            <a:off x="8972326" y="5257669"/>
            <a:ext cx="1295368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1,251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8972326" y="5524362"/>
            <a:ext cx="129536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착한가격</a:t>
            </a:r>
            <a:endParaRPr lang="en-US" sz="788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+15점</a:t>
            </a:r>
            <a:endParaRPr lang="en-US" sz="788" dirty="0"/>
          </a:p>
        </p:txBody>
      </p:sp>
      <p:sp>
        <p:nvSpPr>
          <p:cNvPr id="88" name="Shape 86"/>
          <p:cNvSpPr/>
          <p:nvPr/>
        </p:nvSpPr>
        <p:spPr>
          <a:xfrm>
            <a:off x="10362941" y="5143371"/>
            <a:ext cx="1295368" cy="761981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</p:sp>
      <p:sp>
        <p:nvSpPr>
          <p:cNvPr id="89" name="Text 87"/>
          <p:cNvSpPr/>
          <p:nvPr/>
        </p:nvSpPr>
        <p:spPr>
          <a:xfrm>
            <a:off x="10362941" y="5257669"/>
            <a:ext cx="1295368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979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10362941" y="5524362"/>
            <a:ext cx="129536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행정처분</a:t>
            </a:r>
            <a:endParaRPr lang="en-US" sz="788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−10~−50점</a:t>
            </a:r>
            <a:endParaRPr lang="en-US" sz="788" dirty="0"/>
          </a:p>
        </p:txBody>
      </p:sp>
      <p:sp>
        <p:nvSpPr>
          <p:cNvPr id="91" name="Shape 89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2" name="Text 90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4868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203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1537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4872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8207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1541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4876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4868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8203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1537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4872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07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31541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4876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4868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8203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1537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4872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8207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1541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4876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4868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8203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91537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04872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18207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31541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76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64868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8203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1537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04872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18207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31541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44876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4868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78203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91537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04872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8207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31541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44876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64868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8203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1537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04872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18207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31541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44876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33387" y="85722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개발과정 및 방법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3387" y="1066773"/>
            <a:ext cx="11124922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b="1" spc="-5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데이터 매칭·점수 산출 파이프라인</a:t>
            </a:r>
            <a:endParaRPr lang="en-US" sz="2250" dirty="0"/>
          </a:p>
        </p:txBody>
      </p:sp>
      <p:sp>
        <p:nvSpPr>
          <p:cNvPr id="53" name="Text 51"/>
          <p:cNvSpPr/>
          <p:nvPr/>
        </p:nvSpPr>
        <p:spPr>
          <a:xfrm>
            <a:off x="533387" y="1504912"/>
            <a:ext cx="1112492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5개 외부 인증을 어떤 컬럼으로 정합하고, 어떻게 70 + 15 + 15 점수로 변환했는가</a:t>
            </a:r>
            <a:endParaRPr lang="en-US" sz="1013" dirty="0"/>
          </a:p>
        </p:txBody>
      </p:sp>
      <p:sp>
        <p:nvSpPr>
          <p:cNvPr id="54" name="Shape 52"/>
          <p:cNvSpPr/>
          <p:nvPr/>
        </p:nvSpPr>
        <p:spPr>
          <a:xfrm>
            <a:off x="533387" y="2000200"/>
            <a:ext cx="2466913" cy="2762181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419390" y="2000200"/>
            <a:ext cx="2466913" cy="2762181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05392" y="2000200"/>
            <a:ext cx="2466913" cy="2762181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4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191395" y="2000200"/>
            <a:ext cx="2466913" cy="2762181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4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057449" y="3374147"/>
            <a:ext cx="247644" cy="14287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9" name="Shape 57"/>
          <p:cNvSpPr/>
          <p:nvPr/>
        </p:nvSpPr>
        <p:spPr>
          <a:xfrm rot="5400000">
            <a:off x="3266993" y="3324142"/>
            <a:ext cx="76198" cy="114297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60" name="Shape 58"/>
          <p:cNvSpPr/>
          <p:nvPr/>
        </p:nvSpPr>
        <p:spPr>
          <a:xfrm>
            <a:off x="5943451" y="3374147"/>
            <a:ext cx="247644" cy="14287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1" name="Shape 59"/>
          <p:cNvSpPr/>
          <p:nvPr/>
        </p:nvSpPr>
        <p:spPr>
          <a:xfrm rot="5400000">
            <a:off x="6152996" y="3324142"/>
            <a:ext cx="76198" cy="114297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62" name="Shape 60"/>
          <p:cNvSpPr/>
          <p:nvPr/>
        </p:nvSpPr>
        <p:spPr>
          <a:xfrm>
            <a:off x="8829454" y="3374147"/>
            <a:ext cx="247644" cy="14287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3" name="Shape 61"/>
          <p:cNvSpPr/>
          <p:nvPr/>
        </p:nvSpPr>
        <p:spPr>
          <a:xfrm rot="5400000">
            <a:off x="9038999" y="3324142"/>
            <a:ext cx="76198" cy="114297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64" name="Text 62"/>
          <p:cNvSpPr/>
          <p:nvPr/>
        </p:nvSpPr>
        <p:spPr>
          <a:xfrm>
            <a:off x="704832" y="2171646"/>
            <a:ext cx="212402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spc="16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· SOURCES</a:t>
            </a:r>
            <a:endParaRPr lang="en-US" sz="713" dirty="0"/>
          </a:p>
        </p:txBody>
      </p:sp>
      <p:sp>
        <p:nvSpPr>
          <p:cNvPr id="65" name="Text 63"/>
          <p:cNvSpPr/>
          <p:nvPr/>
        </p:nvSpPr>
        <p:spPr>
          <a:xfrm>
            <a:off x="704832" y="2343091"/>
            <a:ext cx="2124022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외부 데이터</a:t>
            </a:r>
            <a:endParaRPr lang="en-US" sz="1275" dirty="0"/>
          </a:p>
        </p:txBody>
      </p:sp>
      <p:sp>
        <p:nvSpPr>
          <p:cNvPr id="66" name="Shape 64"/>
          <p:cNvSpPr/>
          <p:nvPr/>
        </p:nvSpPr>
        <p:spPr>
          <a:xfrm>
            <a:off x="704832" y="2628834"/>
            <a:ext cx="212402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/>
          <p:nvPr/>
        </p:nvSpPr>
        <p:spPr>
          <a:xfrm>
            <a:off x="3590835" y="2171646"/>
            <a:ext cx="212402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spc="16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· INTEGRATE</a:t>
            </a:r>
            <a:endParaRPr lang="en-US" sz="713" dirty="0"/>
          </a:p>
        </p:txBody>
      </p:sp>
      <p:sp>
        <p:nvSpPr>
          <p:cNvPr id="68" name="Text 66"/>
          <p:cNvSpPr/>
          <p:nvPr/>
        </p:nvSpPr>
        <p:spPr>
          <a:xfrm>
            <a:off x="3590835" y="2343091"/>
            <a:ext cx="2124022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매칭·통합</a:t>
            </a:r>
            <a:endParaRPr lang="en-US" sz="1275" dirty="0"/>
          </a:p>
        </p:txBody>
      </p:sp>
      <p:sp>
        <p:nvSpPr>
          <p:cNvPr id="69" name="Shape 67"/>
          <p:cNvSpPr/>
          <p:nvPr/>
        </p:nvSpPr>
        <p:spPr>
          <a:xfrm>
            <a:off x="3590835" y="2628834"/>
            <a:ext cx="212402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476838" y="2171646"/>
            <a:ext cx="212402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spc="16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· SCORING</a:t>
            </a:r>
            <a:endParaRPr lang="en-US" sz="713" dirty="0"/>
          </a:p>
        </p:txBody>
      </p:sp>
      <p:sp>
        <p:nvSpPr>
          <p:cNvPr id="71" name="Text 69"/>
          <p:cNvSpPr/>
          <p:nvPr/>
        </p:nvSpPr>
        <p:spPr>
          <a:xfrm>
            <a:off x="6476838" y="2343091"/>
            <a:ext cx="2124022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점수 산출</a:t>
            </a:r>
            <a:endParaRPr lang="en-US" sz="1275" dirty="0"/>
          </a:p>
        </p:txBody>
      </p:sp>
      <p:sp>
        <p:nvSpPr>
          <p:cNvPr id="72" name="Shape 70"/>
          <p:cNvSpPr/>
          <p:nvPr/>
        </p:nvSpPr>
        <p:spPr>
          <a:xfrm>
            <a:off x="6476838" y="2628834"/>
            <a:ext cx="212402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71"/>
          <p:cNvSpPr/>
          <p:nvPr/>
        </p:nvSpPr>
        <p:spPr>
          <a:xfrm>
            <a:off x="9362841" y="2171646"/>
            <a:ext cx="212402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3" b="1" spc="16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· GRADE</a:t>
            </a:r>
            <a:endParaRPr lang="en-US" sz="713" dirty="0"/>
          </a:p>
        </p:txBody>
      </p:sp>
      <p:sp>
        <p:nvSpPr>
          <p:cNvPr id="74" name="Text 72"/>
          <p:cNvSpPr/>
          <p:nvPr/>
        </p:nvSpPr>
        <p:spPr>
          <a:xfrm>
            <a:off x="9362841" y="2343091"/>
            <a:ext cx="2124022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치즈 등급</a:t>
            </a:r>
            <a:endParaRPr lang="en-US" sz="1275" dirty="0"/>
          </a:p>
        </p:txBody>
      </p:sp>
      <p:sp>
        <p:nvSpPr>
          <p:cNvPr id="75" name="Shape 73"/>
          <p:cNvSpPr/>
          <p:nvPr/>
        </p:nvSpPr>
        <p:spPr>
          <a:xfrm>
            <a:off x="9362841" y="2628834"/>
            <a:ext cx="2124022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Shape 74"/>
          <p:cNvSpPr/>
          <p:nvPr/>
        </p:nvSpPr>
        <p:spPr>
          <a:xfrm>
            <a:off x="742931" y="2866953"/>
            <a:ext cx="57149" cy="57149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77" name="Text 75"/>
          <p:cNvSpPr/>
          <p:nvPr/>
        </p:nvSpPr>
        <p:spPr>
          <a:xfrm>
            <a:off x="876278" y="2809805"/>
            <a:ext cx="151443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위생등급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238319" y="2809805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+35</a:t>
            </a:r>
            <a:endParaRPr lang="en-US" sz="825" dirty="0"/>
          </a:p>
        </p:txBody>
      </p:sp>
      <p:sp>
        <p:nvSpPr>
          <p:cNvPr id="79" name="Shape 77"/>
          <p:cNvSpPr/>
          <p:nvPr/>
        </p:nvSpPr>
        <p:spPr>
          <a:xfrm>
            <a:off x="742931" y="3028874"/>
            <a:ext cx="2047824" cy="666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Shape 78"/>
          <p:cNvSpPr/>
          <p:nvPr/>
        </p:nvSpPr>
        <p:spPr>
          <a:xfrm>
            <a:off x="742931" y="3152696"/>
            <a:ext cx="57149" cy="57149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81" name="Text 79"/>
          <p:cNvSpPr/>
          <p:nvPr/>
        </p:nvSpPr>
        <p:spPr>
          <a:xfrm>
            <a:off x="876278" y="3095548"/>
            <a:ext cx="151443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모범음식점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238319" y="3095548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+25</a:t>
            </a:r>
            <a:endParaRPr lang="en-US" sz="825" dirty="0"/>
          </a:p>
        </p:txBody>
      </p:sp>
      <p:sp>
        <p:nvSpPr>
          <p:cNvPr id="83" name="Shape 81"/>
          <p:cNvSpPr/>
          <p:nvPr/>
        </p:nvSpPr>
        <p:spPr>
          <a:xfrm>
            <a:off x="742931" y="3314617"/>
            <a:ext cx="2047824" cy="666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Shape 82"/>
          <p:cNvSpPr/>
          <p:nvPr/>
        </p:nvSpPr>
        <p:spPr>
          <a:xfrm>
            <a:off x="742931" y="3438439"/>
            <a:ext cx="57149" cy="57149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5" name="Text 83"/>
          <p:cNvSpPr/>
          <p:nvPr/>
        </p:nvSpPr>
        <p:spPr>
          <a:xfrm>
            <a:off x="876278" y="3381290"/>
            <a:ext cx="151443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안심식당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2238319" y="3381290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</a:t>
            </a:r>
            <a:endParaRPr lang="en-US" sz="825" dirty="0"/>
          </a:p>
        </p:txBody>
      </p:sp>
      <p:sp>
        <p:nvSpPr>
          <p:cNvPr id="87" name="Shape 85"/>
          <p:cNvSpPr/>
          <p:nvPr/>
        </p:nvSpPr>
        <p:spPr>
          <a:xfrm>
            <a:off x="742931" y="3600360"/>
            <a:ext cx="2047824" cy="666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Shape 86"/>
          <p:cNvSpPr/>
          <p:nvPr/>
        </p:nvSpPr>
        <p:spPr>
          <a:xfrm>
            <a:off x="742931" y="3724182"/>
            <a:ext cx="57149" cy="57149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89" name="Text 87"/>
          <p:cNvSpPr/>
          <p:nvPr/>
        </p:nvSpPr>
        <p:spPr>
          <a:xfrm>
            <a:off x="876278" y="3667033"/>
            <a:ext cx="151443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착한가격업소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2238319" y="3667033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</a:t>
            </a:r>
            <a:endParaRPr lang="en-US" sz="825" dirty="0"/>
          </a:p>
        </p:txBody>
      </p:sp>
      <p:sp>
        <p:nvSpPr>
          <p:cNvPr id="91" name="Shape 89"/>
          <p:cNvSpPr/>
          <p:nvPr/>
        </p:nvSpPr>
        <p:spPr>
          <a:xfrm>
            <a:off x="742931" y="3886103"/>
            <a:ext cx="2047824" cy="666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Shape 90"/>
          <p:cNvSpPr/>
          <p:nvPr/>
        </p:nvSpPr>
        <p:spPr>
          <a:xfrm>
            <a:off x="742931" y="4009925"/>
            <a:ext cx="57149" cy="57149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3" name="Text 91"/>
          <p:cNvSpPr/>
          <p:nvPr/>
        </p:nvSpPr>
        <p:spPr>
          <a:xfrm>
            <a:off x="876278" y="3952776"/>
            <a:ext cx="151443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행정처분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2238319" y="3952776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EF444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−10~−50</a:t>
            </a:r>
            <a:endParaRPr lang="en-US" sz="825" dirty="0"/>
          </a:p>
        </p:txBody>
      </p:sp>
      <p:sp>
        <p:nvSpPr>
          <p:cNvPr id="95" name="Text 93"/>
          <p:cNvSpPr/>
          <p:nvPr/>
        </p:nvSpPr>
        <p:spPr>
          <a:xfrm>
            <a:off x="3590835" y="2800280"/>
            <a:ext cx="2124022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5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151,592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3590835" y="3124122"/>
            <a:ext cx="212402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식당 마스터</a:t>
            </a:r>
            <a:endParaRPr lang="en-US" sz="788" dirty="0"/>
          </a:p>
        </p:txBody>
      </p:sp>
      <p:sp>
        <p:nvSpPr>
          <p:cNvPr id="97" name="Shape 95"/>
          <p:cNvSpPr/>
          <p:nvPr/>
        </p:nvSpPr>
        <p:spPr>
          <a:xfrm>
            <a:off x="3705132" y="3352716"/>
            <a:ext cx="189542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Text 96"/>
          <p:cNvSpPr/>
          <p:nvPr/>
        </p:nvSpPr>
        <p:spPr>
          <a:xfrm>
            <a:off x="3590835" y="3467013"/>
            <a:ext cx="212402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spc="-50" kern="0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86~90%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3590835" y="3752756"/>
            <a:ext cx="212402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매칭률 (보수적)</a:t>
            </a:r>
            <a:endParaRPr lang="en-US" sz="788" dirty="0"/>
          </a:p>
        </p:txBody>
      </p:sp>
      <p:sp>
        <p:nvSpPr>
          <p:cNvPr id="100" name="Shape 98"/>
          <p:cNvSpPr/>
          <p:nvPr/>
        </p:nvSpPr>
        <p:spPr>
          <a:xfrm>
            <a:off x="3590835" y="4095648"/>
            <a:ext cx="2124022" cy="533387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101" name="Text 99"/>
          <p:cNvSpPr/>
          <p:nvPr/>
        </p:nvSpPr>
        <p:spPr>
          <a:xfrm>
            <a:off x="3667033" y="4152796"/>
            <a:ext cx="19716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 </a:t>
            </a:r>
            <a:pPr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객체에 8개 시그널 부착</a:t>
            </a:r>
            <a:endParaRPr lang="en-US" sz="788" dirty="0"/>
          </a:p>
        </p:txBody>
      </p:sp>
      <p:sp>
        <p:nvSpPr>
          <p:cNvPr id="102" name="Text 100"/>
          <p:cNvSpPr/>
          <p:nvPr/>
        </p:nvSpPr>
        <p:spPr>
          <a:xfrm>
            <a:off x="3667033" y="4362341"/>
            <a:ext cx="19716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false positive 시 skip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591135" y="2857429"/>
            <a:ext cx="1895428" cy="266693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04" name="Text 102"/>
          <p:cNvSpPr/>
          <p:nvPr/>
        </p:nvSpPr>
        <p:spPr>
          <a:xfrm>
            <a:off x="6591135" y="2905052"/>
            <a:ext cx="18954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데이터 70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591135" y="3200320"/>
            <a:ext cx="1895428" cy="266693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06" name="Text 104"/>
          <p:cNvSpPr/>
          <p:nvPr/>
        </p:nvSpPr>
        <p:spPr>
          <a:xfrm>
            <a:off x="6591135" y="3247944"/>
            <a:ext cx="18954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사장님 15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591135" y="3543211"/>
            <a:ext cx="1895428" cy="266693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591135" y="3590835"/>
            <a:ext cx="18954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사용자 15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476838" y="4000400"/>
            <a:ext cx="2124022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-5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= 종합 100</a:t>
            </a:r>
            <a:endParaRPr lang="en-US" sz="1500" dirty="0"/>
          </a:p>
        </p:txBody>
      </p:sp>
      <p:sp>
        <p:nvSpPr>
          <p:cNvPr id="110" name="Shape 108"/>
          <p:cNvSpPr/>
          <p:nvPr/>
        </p:nvSpPr>
        <p:spPr>
          <a:xfrm>
            <a:off x="6591135" y="4400440"/>
            <a:ext cx="189542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76838" y="4476638"/>
            <a:ext cx="212402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deriveGrade(score, flags, stats)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9400940" y="2866953"/>
            <a:ext cx="57149" cy="57149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13" name="Text 111"/>
          <p:cNvSpPr/>
          <p:nvPr/>
        </p:nvSpPr>
        <p:spPr>
          <a:xfrm>
            <a:off x="9534287" y="2809805"/>
            <a:ext cx="8572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spc="5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GOLDEN</a:t>
            </a:r>
            <a:endParaRPr lang="en-US" sz="788" dirty="0"/>
          </a:p>
        </p:txBody>
      </p:sp>
      <p:sp>
        <p:nvSpPr>
          <p:cNvPr id="114" name="Text 112"/>
          <p:cNvSpPr/>
          <p:nvPr/>
        </p:nvSpPr>
        <p:spPr>
          <a:xfrm>
            <a:off x="10239119" y="2809805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65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10896328" y="2809805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2.6%</a:t>
            </a:r>
            <a:endParaRPr lang="en-US" sz="825" dirty="0"/>
          </a:p>
        </p:txBody>
      </p:sp>
      <p:sp>
        <p:nvSpPr>
          <p:cNvPr id="116" name="Shape 114"/>
          <p:cNvSpPr/>
          <p:nvPr/>
        </p:nvSpPr>
        <p:spPr>
          <a:xfrm>
            <a:off x="9400940" y="3028874"/>
            <a:ext cx="2047824" cy="666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400940" y="3152696"/>
            <a:ext cx="57149" cy="57149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8" name="Text 116"/>
          <p:cNvSpPr/>
          <p:nvPr/>
        </p:nvSpPr>
        <p:spPr>
          <a:xfrm>
            <a:off x="9534287" y="3095548"/>
            <a:ext cx="8572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spc="5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SILVER</a:t>
            </a:r>
            <a:endParaRPr lang="en-US" sz="788" dirty="0"/>
          </a:p>
        </p:txBody>
      </p:sp>
      <p:sp>
        <p:nvSpPr>
          <p:cNvPr id="119" name="Text 117"/>
          <p:cNvSpPr/>
          <p:nvPr/>
        </p:nvSpPr>
        <p:spPr>
          <a:xfrm>
            <a:off x="10239119" y="3095548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40~64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10896328" y="3095548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24.1%</a:t>
            </a:r>
            <a:endParaRPr lang="en-US" sz="825" dirty="0"/>
          </a:p>
        </p:txBody>
      </p:sp>
      <p:sp>
        <p:nvSpPr>
          <p:cNvPr id="121" name="Shape 119"/>
          <p:cNvSpPr/>
          <p:nvPr/>
        </p:nvSpPr>
        <p:spPr>
          <a:xfrm>
            <a:off x="9400940" y="3314617"/>
            <a:ext cx="2047824" cy="666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9400940" y="3438439"/>
            <a:ext cx="57149" cy="57149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123" name="Text 121"/>
          <p:cNvSpPr/>
          <p:nvPr/>
        </p:nvSpPr>
        <p:spPr>
          <a:xfrm>
            <a:off x="9534287" y="3381290"/>
            <a:ext cx="8572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spc="5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BRONZE</a:t>
            </a:r>
            <a:endParaRPr lang="en-US" sz="788" dirty="0"/>
          </a:p>
        </p:txBody>
      </p:sp>
      <p:sp>
        <p:nvSpPr>
          <p:cNvPr id="124" name="Text 122"/>
          <p:cNvSpPr/>
          <p:nvPr/>
        </p:nvSpPr>
        <p:spPr>
          <a:xfrm>
            <a:off x="10239119" y="3381290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40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10896328" y="3381290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73.3%</a:t>
            </a:r>
            <a:endParaRPr lang="en-US" sz="825" dirty="0"/>
          </a:p>
        </p:txBody>
      </p:sp>
      <p:sp>
        <p:nvSpPr>
          <p:cNvPr id="126" name="Shape 124"/>
          <p:cNvSpPr/>
          <p:nvPr/>
        </p:nvSpPr>
        <p:spPr>
          <a:xfrm>
            <a:off x="9400940" y="3600360"/>
            <a:ext cx="2047824" cy="666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400940" y="3724182"/>
            <a:ext cx="57149" cy="57149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8" name="Text 126"/>
          <p:cNvSpPr/>
          <p:nvPr/>
        </p:nvSpPr>
        <p:spPr>
          <a:xfrm>
            <a:off x="9534287" y="3667033"/>
            <a:ext cx="8572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spc="50" kern="0" dirty="0">
                <a:solidFill>
                  <a:srgbClr val="B91C1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ROTTEN</a:t>
            </a:r>
            <a:endParaRPr lang="en-US" sz="788" dirty="0"/>
          </a:p>
        </p:txBody>
      </p:sp>
      <p:sp>
        <p:nvSpPr>
          <p:cNvPr id="129" name="Text 127"/>
          <p:cNvSpPr/>
          <p:nvPr/>
        </p:nvSpPr>
        <p:spPr>
          <a:xfrm>
            <a:off x="10239119" y="3667033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위반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10896328" y="3667033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EF444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23건</a:t>
            </a:r>
            <a:endParaRPr lang="en-US" sz="825" dirty="0"/>
          </a:p>
        </p:txBody>
      </p:sp>
      <p:sp>
        <p:nvSpPr>
          <p:cNvPr id="131" name="Shape 129"/>
          <p:cNvSpPr/>
          <p:nvPr/>
        </p:nvSpPr>
        <p:spPr>
          <a:xfrm>
            <a:off x="533387" y="5010025"/>
            <a:ext cx="5486263" cy="1276318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23882" y="5143371"/>
            <a:ext cx="510527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매칭 키</a:t>
            </a:r>
            <a:endParaRPr lang="en-US" sz="825" dirty="0"/>
          </a:p>
        </p:txBody>
      </p:sp>
      <p:sp>
        <p:nvSpPr>
          <p:cNvPr id="133" name="Shape 131"/>
          <p:cNvSpPr/>
          <p:nvPr/>
        </p:nvSpPr>
        <p:spPr>
          <a:xfrm>
            <a:off x="723882" y="5371966"/>
            <a:ext cx="2285943" cy="190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00080" y="5400540"/>
            <a:ext cx="21335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업소명 정규화 + 도로명 주소 prefix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3124122" y="5400540"/>
            <a:ext cx="291457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위생등급·모범·안심·착한 (4종)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723882" y="5657709"/>
            <a:ext cx="2285943" cy="190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00080" y="5686283"/>
            <a:ext cx="21335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사업장명 정규화 + 자치구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3124122" y="5686283"/>
            <a:ext cx="291457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행정처분 (보수적, 다중 후보 skip)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723882" y="5943451"/>
            <a:ext cx="2285943" cy="190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00080" y="5972026"/>
            <a:ext cx="21335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scripts/apply-*.js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3124122" y="5972026"/>
            <a:ext cx="291457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5개 매칭 스크립트로 flags 부착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6172046" y="5010025"/>
            <a:ext cx="5486263" cy="1276318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362541" y="5143371"/>
            <a:ext cx="510527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점수 공식</a:t>
            </a:r>
            <a:endParaRPr lang="en-US" sz="825" dirty="0"/>
          </a:p>
        </p:txBody>
      </p:sp>
      <p:sp>
        <p:nvSpPr>
          <p:cNvPr id="144" name="Shape 142"/>
          <p:cNvSpPr/>
          <p:nvPr/>
        </p:nvSpPr>
        <p:spPr>
          <a:xfrm>
            <a:off x="6362541" y="5371966"/>
            <a:ext cx="2285943" cy="190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438739" y="5400540"/>
            <a:ext cx="21335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25 + Σ(인증) + Σ(페널티)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762781" y="5400540"/>
            <a:ext cx="289552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위생등급 없을 때 (모범+안심+착한) cap 35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6362541" y="5657709"/>
            <a:ext cx="2285943" cy="190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438739" y="5686283"/>
            <a:ext cx="21335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 = min(30d 인증 × 1.5, 15)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8762781" y="5686283"/>
            <a:ext cx="289552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최근 30일 청소 인증 가산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6362541" y="5943451"/>
            <a:ext cx="2285943" cy="190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438739" y="5972026"/>
            <a:ext cx="213354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별점평균 × 3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8762781" y="5972026"/>
            <a:ext cx="289552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전체 사용자 평균 (Supabase 도입 효과)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4" name="Text 152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155" name="Text 153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4868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203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1537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4872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8207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1541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4876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4868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8203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1537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4872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07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31541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4876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4868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8203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1537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4872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8207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1541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4876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4868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8203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91537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04872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18207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31541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76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64868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8203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1537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04872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18207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31541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44876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4868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78203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91537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04872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8207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31541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44876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64868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8203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1537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04872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18207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31541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44876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33387" y="1047724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 툴 및 참고문헌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3387" y="1257269"/>
            <a:ext cx="11124922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4가지 핵심 도구로 한 달 만에 완성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33387" y="1714457"/>
            <a:ext cx="11124922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코딩부터 배포·백엔드·AI 협업까지, 단일 워크플로로 통합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33387" y="2381190"/>
            <a:ext cx="2652646" cy="2666933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4000"/>
              </a:srgbClr>
            </a:outerShdw>
          </a:effectLst>
        </p:spPr>
      </p:sp>
      <p:pic>
        <p:nvPicPr>
          <p:cNvPr id="55" name="Image 0" descr="/Users/sanghoon/Documents/GitHub/food-detector/presentation/image/logos/vs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818" y="2685983"/>
            <a:ext cx="685783" cy="685783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533387" y="3619410"/>
            <a:ext cx="265264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VS Code</a:t>
            </a:r>
            <a:endParaRPr lang="en-US" sz="1350" dirty="0"/>
          </a:p>
        </p:txBody>
      </p:sp>
      <p:sp>
        <p:nvSpPr>
          <p:cNvPr id="57" name="Text 54"/>
          <p:cNvSpPr/>
          <p:nvPr/>
        </p:nvSpPr>
        <p:spPr>
          <a:xfrm>
            <a:off x="685783" y="3981350"/>
            <a:ext cx="2347854" cy="85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93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코드 에디터</a:t>
            </a:r>
            <a:endParaRPr lang="en-US" sz="938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TypeScript · expo-router · 자동 import 정리</a:t>
            </a:r>
            <a:endParaRPr lang="en-US" sz="938" dirty="0"/>
          </a:p>
        </p:txBody>
      </p:sp>
      <p:sp>
        <p:nvSpPr>
          <p:cNvPr id="58" name="Shape 55"/>
          <p:cNvSpPr/>
          <p:nvPr/>
        </p:nvSpPr>
        <p:spPr>
          <a:xfrm>
            <a:off x="3357479" y="2381190"/>
            <a:ext cx="2652646" cy="2666933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4000"/>
              </a:srgbClr>
            </a:outerShdw>
          </a:effectLst>
        </p:spPr>
      </p:sp>
      <p:pic>
        <p:nvPicPr>
          <p:cNvPr id="59" name="Image 1" descr="/Users/sanghoon/Documents/GitHub/food-detector/presentation/image/logos/anthrop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910" y="2685983"/>
            <a:ext cx="685783" cy="685783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3357479" y="3619410"/>
            <a:ext cx="265264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61" name="Text 57"/>
          <p:cNvSpPr/>
          <p:nvPr/>
        </p:nvSpPr>
        <p:spPr>
          <a:xfrm>
            <a:off x="3509875" y="3981350"/>
            <a:ext cx="2347854" cy="85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93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협업</a:t>
            </a:r>
            <a:endParaRPr lang="en-US" sz="938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워크트리 병렬 작업 · PR 단위 코드 리뷰</a:t>
            </a:r>
            <a:endParaRPr lang="en-US" sz="938" dirty="0"/>
          </a:p>
        </p:txBody>
      </p:sp>
      <p:sp>
        <p:nvSpPr>
          <p:cNvPr id="62" name="Shape 58"/>
          <p:cNvSpPr/>
          <p:nvPr/>
        </p:nvSpPr>
        <p:spPr>
          <a:xfrm>
            <a:off x="6181570" y="2381190"/>
            <a:ext cx="2652646" cy="2666933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4000"/>
              </a:srgbClr>
            </a:outerShdw>
          </a:effectLst>
        </p:spPr>
      </p:sp>
      <p:pic>
        <p:nvPicPr>
          <p:cNvPr id="63" name="Image 2" descr="/Users/sanghoon/Documents/GitHub/food-detector/presentation/image/logos/sup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002" y="2685983"/>
            <a:ext cx="685783" cy="685783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181570" y="3619410"/>
            <a:ext cx="265264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Supabase</a:t>
            </a:r>
            <a:endParaRPr lang="en-US" sz="1350" dirty="0"/>
          </a:p>
        </p:txBody>
      </p:sp>
      <p:sp>
        <p:nvSpPr>
          <p:cNvPr id="65" name="Text 60"/>
          <p:cNvSpPr/>
          <p:nvPr/>
        </p:nvSpPr>
        <p:spPr>
          <a:xfrm>
            <a:off x="6333967" y="3981350"/>
            <a:ext cx="2347854" cy="85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93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백엔드</a:t>
            </a:r>
            <a:endParaRPr lang="en-US" sz="938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Postgres · Storage · RLS · 6개 테이블</a:t>
            </a:r>
            <a:endParaRPr lang="en-US" sz="938" dirty="0"/>
          </a:p>
        </p:txBody>
      </p:sp>
      <p:sp>
        <p:nvSpPr>
          <p:cNvPr id="66" name="Shape 61"/>
          <p:cNvSpPr/>
          <p:nvPr/>
        </p:nvSpPr>
        <p:spPr>
          <a:xfrm>
            <a:off x="9005662" y="2381190"/>
            <a:ext cx="2652646" cy="2666933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4000"/>
              </a:srgbClr>
            </a:outerShdw>
          </a:effectLst>
        </p:spPr>
      </p:sp>
      <p:pic>
        <p:nvPicPr>
          <p:cNvPr id="67" name="Image 3" descr="/Users/sanghoon/Documents/GitHub/food-detector/presentation/image/logos/verc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094" y="2685983"/>
            <a:ext cx="685783" cy="685783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9005662" y="3619410"/>
            <a:ext cx="265264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Vercel</a:t>
            </a:r>
            <a:endParaRPr lang="en-US" sz="1350" dirty="0"/>
          </a:p>
        </p:txBody>
      </p:sp>
      <p:sp>
        <p:nvSpPr>
          <p:cNvPr id="69" name="Text 63"/>
          <p:cNvSpPr/>
          <p:nvPr/>
        </p:nvSpPr>
        <p:spPr>
          <a:xfrm>
            <a:off x="9158059" y="3981350"/>
            <a:ext cx="2347854" cy="85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93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배포</a:t>
            </a:r>
            <a:endParaRPr lang="en-US" sz="938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PWA · Edge Function · main push 자동 빌드</a:t>
            </a:r>
            <a:endParaRPr lang="en-US" sz="938" dirty="0"/>
          </a:p>
        </p:txBody>
      </p:sp>
      <p:sp>
        <p:nvSpPr>
          <p:cNvPr id="70" name="Shape 64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1" name="Text 65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72" name="Text 66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532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867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202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9536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2871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06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198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532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867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202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9536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2871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6206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198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532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867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2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9536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2871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6206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6198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532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867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6202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9536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2871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56206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198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532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2867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6202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9536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2871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6206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198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9532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867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6202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9536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871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6206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198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9532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2867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6202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9536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42871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56206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1981" y="123821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제안배경 및 출품작 소개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1981" y="1523962"/>
            <a:ext cx="5524362" cy="1047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주방에서 무슨 일이
</a:t>
            </a:r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일어나는지 </a:t>
            </a:r>
            <a:pPr indent="0" marL="0">
              <a:buNone/>
            </a:pPr>
            <a:r>
              <a:rPr lang="en-US" sz="3300" b="1" dirty="0">
                <a:solidFill>
                  <a:srgbClr val="EF444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보이지 않습니다</a:t>
            </a:r>
            <a:endParaRPr lang="en-US" sz="3300" dirty="0"/>
          </a:p>
        </p:txBody>
      </p:sp>
      <p:sp>
        <p:nvSpPr>
          <p:cNvPr id="53" name="Text 51"/>
          <p:cNvSpPr/>
          <p:nvPr/>
        </p:nvSpPr>
        <p:spPr>
          <a:xfrm>
            <a:off x="761981" y="3143171"/>
            <a:ext cx="5524362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2024년 6월, 광주의 30년 유명 고깃집이 손님이 남긴 음식을 재사용한 사실이 드러났습니다. 2025년에는 백종원 더본코리아의 위생 논란이 4개월 연속 폭로되며 소비자 신뢰가 무너졌어요.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761981" y="4476638"/>
            <a:ext cx="257168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광주 30년 고깃집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761981" y="4686183"/>
            <a:ext cx="2571686" cy="36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22</a:t>
            </a:r>
            <a:pPr indent="0" marL="0">
              <a:buNone/>
            </a:pPr>
            <a:r>
              <a:rPr lang="en-US" sz="1200" b="1" spc="-50" kern="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761981" y="5143371"/>
            <a:ext cx="257168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영업정지 + 검찰 송치 + 자진폐업</a:t>
            </a:r>
            <a:endParaRPr lang="en-US" sz="863" dirty="0"/>
          </a:p>
        </p:txBody>
      </p:sp>
      <p:sp>
        <p:nvSpPr>
          <p:cNvPr id="57" name="Shape 55"/>
          <p:cNvSpPr/>
          <p:nvPr/>
        </p:nvSpPr>
        <p:spPr>
          <a:xfrm>
            <a:off x="3381290" y="4476638"/>
            <a:ext cx="9525" cy="9048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3524162" y="4476638"/>
            <a:ext cx="257168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광주 북구 전수 위생 점검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3524162" y="4686183"/>
            <a:ext cx="2571686" cy="36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5,417</a:t>
            </a:r>
            <a:pPr indent="0" marL="0">
              <a:buNone/>
            </a:pPr>
            <a:r>
              <a:rPr lang="en-US" sz="1200" b="1" spc="-50" kern="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곳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3524162" y="5143371"/>
            <a:ext cx="257168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식육식당 417 + 일반음식점 5,000</a:t>
            </a:r>
            <a:endParaRPr lang="en-US" sz="863" dirty="0"/>
          </a:p>
        </p:txBody>
      </p:sp>
      <p:sp>
        <p:nvSpPr>
          <p:cNvPr id="61" name="Shape 59"/>
          <p:cNvSpPr/>
          <p:nvPr/>
        </p:nvSpPr>
        <p:spPr>
          <a:xfrm>
            <a:off x="6857829" y="1238219"/>
            <a:ext cx="4571886" cy="2571686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04800" dist="101600" dir="5400000">
              <a:srgbClr val="0F172A">
                <a:alpha val="12000"/>
              </a:srgbClr>
            </a:outerShdw>
          </a:effectLst>
        </p:spPr>
      </p:sp>
      <p:pic>
        <p:nvPicPr>
          <p:cNvPr id="62" name="Image 0" descr="/Users/sanghoon/Documents/GitHub/food-detector/presentation/image/rounded/news_food_re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29" y="1238219"/>
            <a:ext cx="4571886" cy="2571686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6857829" y="3886103"/>
            <a:ext cx="457188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출처: JTBC 사건반장 (2024.06)</a:t>
            </a:r>
            <a:endParaRPr lang="en-US" sz="825" dirty="0"/>
          </a:p>
        </p:txBody>
      </p:sp>
      <p:sp>
        <p:nvSpPr>
          <p:cNvPr id="64" name="Shape 61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5" name="Text 62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4868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203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1537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4872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8207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1541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4876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4868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8203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1537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4872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07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31541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4876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4868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8203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1537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4872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8207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1541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4876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4868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8203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91537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04872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18207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31541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76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64868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8203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1537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04872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18207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31541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44876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4868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78203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91537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04872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8207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31541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44876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64868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8203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1537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04872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18207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31541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44876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1981" y="123821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제안배경 및 출품작 소개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1981" y="1523962"/>
            <a:ext cx="10667733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소비자는 더 이상 </a:t>
            </a:r>
            <a:pPr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"맛있는 집"</a:t>
            </a:r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만 찾지 않습니다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761981" y="2476438"/>
            <a:ext cx="10667733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코로나19 이후 위생에 대한 관심은 높아졌지만, 식품 안전 신뢰는 오히려 하락 — 이 비대칭이 신고·민원 폭증으로 행동화되고 있습니다.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61981" y="3238419"/>
            <a:ext cx="5143371" cy="761981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71526" y="3390815"/>
            <a:ext cx="190495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100점 만점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2876478" y="3390815"/>
            <a:ext cx="28574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181270" y="339081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spc="-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79점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971526" y="3676558"/>
            <a:ext cx="4724282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코로나19 이후 식품 안전성 평가 점수 하락</a:t>
            </a:r>
            <a:endParaRPr lang="en-US" sz="82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(한국농촌경제연구원 2021)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761981" y="4114697"/>
            <a:ext cx="5143371" cy="761981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71526" y="4267093"/>
            <a:ext cx="190495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810건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2876478" y="4267093"/>
            <a:ext cx="285743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181270" y="4267093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spc="-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6,866건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4667133" y="4305192"/>
            <a:ext cx="76198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×4.4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71526" y="4552836"/>
            <a:ext cx="4724282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배달 음식 이물 신고 1년 만에 4.4배 폭증</a:t>
            </a:r>
            <a:endParaRPr lang="en-US" sz="82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(식약처 2019→2021, 2025 누적 1만 건)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761981" y="4990975"/>
            <a:ext cx="5143371" cy="761981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971526" y="5143371"/>
            <a:ext cx="2857429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9,046건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971526" y="5429114"/>
            <a:ext cx="4724282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최근 3년간 정부 접수 배달음식 민원</a:t>
            </a:r>
            <a:endParaRPr lang="en-US" sz="82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(2022.02 ~ 2026.01, 국민권익위)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6286343" y="3238419"/>
            <a:ext cx="5143371" cy="26669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514937" y="3428914"/>
            <a:ext cx="476238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월평균 배달 음식 민원 추이</a:t>
            </a:r>
            <a:endParaRPr lang="en-US" sz="975" dirty="0"/>
          </a:p>
        </p:txBody>
      </p:sp>
      <p:sp>
        <p:nvSpPr>
          <p:cNvPr id="70" name="Text 68"/>
          <p:cNvSpPr/>
          <p:nvPr/>
        </p:nvSpPr>
        <p:spPr>
          <a:xfrm>
            <a:off x="6514937" y="3619410"/>
            <a:ext cx="47623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최근 2년 사이 월평균 1.9배 증가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6667333" y="5714857"/>
            <a:ext cx="4762381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Text 70"/>
          <p:cNvSpPr/>
          <p:nvPr/>
        </p:nvSpPr>
        <p:spPr>
          <a:xfrm>
            <a:off x="7276918" y="4589967"/>
            <a:ext cx="9905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189</a:t>
            </a:r>
            <a:endParaRPr lang="en-US" sz="975" dirty="0"/>
          </a:p>
        </p:txBody>
      </p:sp>
      <p:sp>
        <p:nvSpPr>
          <p:cNvPr id="73" name="Shape 71"/>
          <p:cNvSpPr/>
          <p:nvPr/>
        </p:nvSpPr>
        <p:spPr>
          <a:xfrm>
            <a:off x="7467413" y="4799511"/>
            <a:ext cx="609585" cy="915346"/>
          </a:xfrm>
          <a:prstGeom prst="roundRect">
            <a:avLst>
              <a:gd name="adj" fmla="val 9375"/>
            </a:avLst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7372166" y="5810105"/>
            <a:ext cx="80008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2023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8553236" y="4444674"/>
            <a:ext cx="9905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219</a:t>
            </a:r>
            <a:endParaRPr lang="en-US" sz="975" dirty="0"/>
          </a:p>
        </p:txBody>
      </p:sp>
      <p:sp>
        <p:nvSpPr>
          <p:cNvPr id="76" name="Shape 74"/>
          <p:cNvSpPr/>
          <p:nvPr/>
        </p:nvSpPr>
        <p:spPr>
          <a:xfrm>
            <a:off x="8743731" y="4654218"/>
            <a:ext cx="609585" cy="1060639"/>
          </a:xfrm>
          <a:prstGeom prst="roundRect">
            <a:avLst>
              <a:gd name="adj" fmla="val 9375"/>
            </a:avLst>
          </a:prstGeom>
          <a:solidFill>
            <a:srgbClr val="E2E8F0"/>
          </a:solidFill>
          <a:ln/>
        </p:spPr>
      </p:sp>
      <p:sp>
        <p:nvSpPr>
          <p:cNvPr id="77" name="Text 75"/>
          <p:cNvSpPr/>
          <p:nvPr/>
        </p:nvSpPr>
        <p:spPr>
          <a:xfrm>
            <a:off x="8648484" y="5810105"/>
            <a:ext cx="80008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2024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9829554" y="3790855"/>
            <a:ext cx="9905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354</a:t>
            </a:r>
            <a:endParaRPr lang="en-US" sz="975" dirty="0"/>
          </a:p>
        </p:txBody>
      </p:sp>
      <p:sp>
        <p:nvSpPr>
          <p:cNvPr id="79" name="Shape 77"/>
          <p:cNvSpPr/>
          <p:nvPr/>
        </p:nvSpPr>
        <p:spPr>
          <a:xfrm>
            <a:off x="10020049" y="4000400"/>
            <a:ext cx="609585" cy="1714457"/>
          </a:xfrm>
          <a:prstGeom prst="roundRect">
            <a:avLst>
              <a:gd name="adj" fmla="val 9375"/>
            </a:avLst>
          </a:prstGeom>
          <a:solidFill>
            <a:srgbClr val="22C55E"/>
          </a:solidFill>
          <a:ln/>
          <a:effectLst>
            <a:outerShdw sx="100000" sy="100000" kx="0" ky="0" algn="bl" rotWithShape="0" blurRad="152400" dist="50800" dir="5400000">
              <a:srgbClr val="16A34A">
                <a:alpha val="2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9734307" y="3543211"/>
            <a:ext cx="1181070" cy="20954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81" name="Text 79"/>
          <p:cNvSpPr/>
          <p:nvPr/>
        </p:nvSpPr>
        <p:spPr>
          <a:xfrm>
            <a:off x="9734307" y="3571786"/>
            <a:ext cx="118107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↑ 1.9× 증가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9924802" y="5810105"/>
            <a:ext cx="80008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2025</a:t>
            </a:r>
            <a:endParaRPr lang="en-US" sz="825" dirty="0"/>
          </a:p>
        </p:txBody>
      </p:sp>
      <p:sp>
        <p:nvSpPr>
          <p:cNvPr id="83" name="Shape 81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4" name="Text 82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532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867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202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9536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2871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06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198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532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867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202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9536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2871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6206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198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532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867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2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9536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2871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6206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6198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532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867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6202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9536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2871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56206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198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532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2867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6202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9536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2871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6206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198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9532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867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6202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9536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871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6206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198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9532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2867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6202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9536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42871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56206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1981" y="123821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제안배경 및 출품작 소개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1981" y="1523962"/>
            <a:ext cx="5524362" cy="1047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위생등급제의
</a:t>
            </a:r>
            <a:pPr indent="0" marL="0">
              <a:buNone/>
            </a:pPr>
            <a:r>
              <a:rPr lang="en-US" sz="3300" b="1" dirty="0">
                <a:solidFill>
                  <a:srgbClr val="EF444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가지 공백</a:t>
            </a:r>
            <a:endParaRPr lang="en-US" sz="3300" dirty="0"/>
          </a:p>
        </p:txBody>
      </p:sp>
      <p:sp>
        <p:nvSpPr>
          <p:cNvPr id="53" name="Text 51"/>
          <p:cNvSpPr/>
          <p:nvPr/>
        </p:nvSpPr>
        <p:spPr>
          <a:xfrm>
            <a:off x="761981" y="3143171"/>
            <a:ext cx="5524362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공식 인증(식약처 위생등급제, 식품위생법 제47조의2)은 분명 공신력 있는 지표지만, 소비자가 인지하지 못하는 두 가지 결정적 공백이 존재합니다.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761981" y="4286143"/>
            <a:ext cx="5524362" cy="1047724"/>
          </a:xfrm>
          <a:prstGeom prst="roundRect">
            <a:avLst>
              <a:gd name="adj" fmla="val 12727"/>
            </a:avLst>
          </a:prstGeom>
          <a:solidFill>
            <a:srgbClr val="F8FAFC"/>
          </a:solidFill>
          <a:ln/>
        </p:spPr>
      </p:sp>
      <p:sp>
        <p:nvSpPr>
          <p:cNvPr id="55" name="Shape 53"/>
          <p:cNvSpPr/>
          <p:nvPr/>
        </p:nvSpPr>
        <p:spPr>
          <a:xfrm>
            <a:off x="761981" y="4286143"/>
            <a:ext cx="28574" cy="104772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971526" y="4495688"/>
            <a:ext cx="514337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12%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971526" y="4819530"/>
            <a:ext cx="5143371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전국 식당 중 위생등급 자발적 신청·취득 비율
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나머지 88%는 공식 위생 지표가 부재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57829" y="1238219"/>
            <a:ext cx="5333867" cy="209544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graphicFrame>
        <p:nvGraphicFramePr>
          <p:cNvPr id="59" name="Chart 0" descr=""/>
          <p:cNvGraphicFramePr/>
          <p:nvPr/>
        </p:nvGraphicFramePr>
        <p:xfrm>
          <a:off x="7143571" y="1428714"/>
          <a:ext cx="1714457" cy="171445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0" name="Shape 57"/>
          <p:cNvSpPr/>
          <p:nvPr/>
        </p:nvSpPr>
        <p:spPr>
          <a:xfrm>
            <a:off x="7619809" y="1904952"/>
            <a:ext cx="761981" cy="76198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/>
          <p:nvPr/>
        </p:nvSpPr>
        <p:spPr>
          <a:xfrm>
            <a:off x="7619809" y="2114497"/>
            <a:ext cx="76198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12%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7619809" y="2343091"/>
            <a:ext cx="7619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인증</a:t>
            </a:r>
            <a:endParaRPr lang="en-US" sz="675" dirty="0"/>
          </a:p>
        </p:txBody>
      </p:sp>
      <p:sp>
        <p:nvSpPr>
          <p:cNvPr id="63" name="Text 60"/>
          <p:cNvSpPr/>
          <p:nvPr/>
        </p:nvSpPr>
        <p:spPr>
          <a:xfrm>
            <a:off x="9143771" y="1600160"/>
            <a:ext cx="285742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2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참여의 공백</a:t>
            </a:r>
            <a:endParaRPr lang="en-US" sz="825" dirty="0"/>
          </a:p>
        </p:txBody>
      </p:sp>
      <p:sp>
        <p:nvSpPr>
          <p:cNvPr id="64" name="Text 61"/>
          <p:cNvSpPr/>
          <p:nvPr/>
        </p:nvSpPr>
        <p:spPr>
          <a:xfrm>
            <a:off x="9143771" y="1809705"/>
            <a:ext cx="2857429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EF444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88%</a:t>
            </a:r>
            <a:endParaRPr lang="en-US" sz="3000" dirty="0"/>
          </a:p>
        </p:txBody>
      </p:sp>
      <p:sp>
        <p:nvSpPr>
          <p:cNvPr id="65" name="Text 62"/>
          <p:cNvSpPr/>
          <p:nvPr/>
        </p:nvSpPr>
        <p:spPr>
          <a:xfrm>
            <a:off x="9143771" y="2457389"/>
            <a:ext cx="2857429" cy="66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전국 식당 중 위생등급 미신청·미취득.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동네 식당·배달 식당 대다수가 이 안에.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6857829" y="3524162"/>
            <a:ext cx="5333867" cy="1904952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/>
        </p:spPr>
      </p:sp>
      <p:sp>
        <p:nvSpPr>
          <p:cNvPr id="67" name="Text 64"/>
          <p:cNvSpPr/>
          <p:nvPr/>
        </p:nvSpPr>
        <p:spPr>
          <a:xfrm>
            <a:off x="7048324" y="3695608"/>
            <a:ext cx="495287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시간의 공백 — 위생등급 취득 후 유효기간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048324" y="4000400"/>
            <a:ext cx="104772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등급 부여 시점</a:t>
            </a:r>
            <a:endParaRPr lang="en-US" sz="825" dirty="0"/>
          </a:p>
        </p:txBody>
      </p:sp>
      <p:sp>
        <p:nvSpPr>
          <p:cNvPr id="69" name="Shape 66"/>
          <p:cNvSpPr/>
          <p:nvPr/>
        </p:nvSpPr>
        <p:spPr>
          <a:xfrm>
            <a:off x="8191295" y="4019450"/>
            <a:ext cx="857229" cy="133347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70" name="Text 67"/>
          <p:cNvSpPr/>
          <p:nvPr/>
        </p:nvSpPr>
        <p:spPr>
          <a:xfrm>
            <a:off x="9143771" y="4000400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기준</a:t>
            </a:r>
            <a:endParaRPr lang="en-US" sz="825" dirty="0"/>
          </a:p>
        </p:txBody>
      </p:sp>
      <p:sp>
        <p:nvSpPr>
          <p:cNvPr id="71" name="Text 68"/>
          <p:cNvSpPr/>
          <p:nvPr/>
        </p:nvSpPr>
        <p:spPr>
          <a:xfrm>
            <a:off x="7048324" y="4362341"/>
            <a:ext cx="104772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유효기간</a:t>
            </a:r>
            <a:endParaRPr lang="en-US" sz="825" dirty="0"/>
          </a:p>
        </p:txBody>
      </p:sp>
      <p:sp>
        <p:nvSpPr>
          <p:cNvPr id="72" name="Shape 69"/>
          <p:cNvSpPr/>
          <p:nvPr/>
        </p:nvSpPr>
        <p:spPr>
          <a:xfrm>
            <a:off x="8191295" y="4381390"/>
            <a:ext cx="3619410" cy="133347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73" name="Text 70"/>
          <p:cNvSpPr/>
          <p:nvPr/>
        </p:nvSpPr>
        <p:spPr>
          <a:xfrm>
            <a:off x="11905952" y="4362341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3년</a:t>
            </a:r>
            <a:endParaRPr lang="en-US" sz="825" dirty="0"/>
          </a:p>
        </p:txBody>
      </p:sp>
      <p:sp>
        <p:nvSpPr>
          <p:cNvPr id="74" name="Text 71"/>
          <p:cNvSpPr/>
          <p:nvPr/>
        </p:nvSpPr>
        <p:spPr>
          <a:xfrm>
            <a:off x="7048324" y="4724282"/>
            <a:ext cx="104772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검사 면제</a:t>
            </a:r>
            <a:endParaRPr lang="en-US" sz="825" dirty="0"/>
          </a:p>
        </p:txBody>
      </p:sp>
      <p:sp>
        <p:nvSpPr>
          <p:cNvPr id="75" name="Shape 72"/>
          <p:cNvSpPr/>
          <p:nvPr/>
        </p:nvSpPr>
        <p:spPr>
          <a:xfrm>
            <a:off x="8191295" y="4743331"/>
            <a:ext cx="2419290" cy="133347"/>
          </a:xfrm>
          <a:prstGeom prst="rect">
            <a:avLst/>
          </a:prstGeom>
          <a:solidFill>
            <a:srgbClr val="FB923C">
              <a:alpha val="85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10705832" y="4724282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2년</a:t>
            </a:r>
            <a:endParaRPr lang="en-US" sz="825" dirty="0"/>
          </a:p>
        </p:txBody>
      </p:sp>
      <p:sp>
        <p:nvSpPr>
          <p:cNvPr id="77" name="Shape 74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8" name="Text 75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79" name="Text 76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33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008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342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6773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0012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3346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6813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6733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008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342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6773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2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3346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66813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6733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0008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3342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6773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2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3346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66813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6733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008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3342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66773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2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3346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466813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6733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0008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3342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66773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0012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3346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66813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6733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0008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3342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66773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0012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33346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466813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33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08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3342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66773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0012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33346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466813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1981" y="123821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제안배경 및 출품작 소개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1981" y="1523962"/>
            <a:ext cx="5905352" cy="1047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집, 믿어도 될까?
</a:t>
            </a:r>
            <a:pPr indent="0" marL="0">
              <a:buNone/>
            </a:pPr>
            <a:r>
              <a:rPr lang="en-US" sz="3300" b="1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 돌려봐!</a:t>
            </a:r>
            <a:endParaRPr lang="en-US" sz="3300" dirty="0"/>
          </a:p>
        </p:txBody>
      </p:sp>
      <p:sp>
        <p:nvSpPr>
          <p:cNvPr id="53" name="Text 51"/>
          <p:cNvSpPr/>
          <p:nvPr/>
        </p:nvSpPr>
        <p:spPr>
          <a:xfrm>
            <a:off x="761981" y="3047924"/>
            <a:ext cx="5905352" cy="1047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식탐정은 식당을 검색·주문하는 플랫폼이 아닙니다. 배달앱·지도앱에서 식당을 고른 뒤 마지막 한 가지 질문 — </a:t>
            </a:r>
            <a:pPr indent="0" marL="0">
              <a:lnSpc>
                <a:spcPct val="17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"이 집, 진짜 믿어도 될까?"</a:t>
            </a:r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에 가장 잘 답하는 </a:t>
            </a:r>
            <a:pPr indent="0" marL="0">
              <a:lnSpc>
                <a:spcPct val="17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검증 보완재</a:t>
            </a:r>
            <a:pPr indent="0" marL="0">
              <a:lnSpc>
                <a:spcPct val="17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입니다.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61981" y="4190895"/>
            <a:ext cx="1866853" cy="761981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55" name="Text 53"/>
          <p:cNvSpPr/>
          <p:nvPr/>
        </p:nvSpPr>
        <p:spPr>
          <a:xfrm>
            <a:off x="761981" y="4324242"/>
            <a:ext cx="186685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배달앱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761981" y="4571886"/>
            <a:ext cx="186685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메뉴를 보여줍니다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2762181" y="4190895"/>
            <a:ext cx="1866853" cy="761981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2762181" y="4324242"/>
            <a:ext cx="186685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지도앱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2762181" y="4571886"/>
            <a:ext cx="186685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위치를 보여줍니다</a:t>
            </a:r>
            <a:endParaRPr lang="en-US" sz="825" dirty="0"/>
          </a:p>
        </p:txBody>
      </p:sp>
      <p:sp>
        <p:nvSpPr>
          <p:cNvPr id="60" name="Shape 58"/>
          <p:cNvSpPr/>
          <p:nvPr/>
        </p:nvSpPr>
        <p:spPr>
          <a:xfrm>
            <a:off x="4762381" y="4190895"/>
            <a:ext cx="1866853" cy="761981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/>
        </p:spPr>
      </p:sp>
      <p:sp>
        <p:nvSpPr>
          <p:cNvPr id="61" name="Text 59"/>
          <p:cNvSpPr/>
          <p:nvPr/>
        </p:nvSpPr>
        <p:spPr>
          <a:xfrm>
            <a:off x="4762381" y="4324242"/>
            <a:ext cx="186685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4762381" y="4571886"/>
            <a:ext cx="186685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위생을 보여줍니다</a:t>
            </a:r>
            <a:endParaRPr lang="en-US" sz="825" dirty="0"/>
          </a:p>
        </p:txBody>
      </p:sp>
      <p:pic>
        <p:nvPicPr>
          <p:cNvPr id="63" name="Image 0" descr="/Users/sanghoon/Documents/GitHub/food-detector/presentation/image/service_logo/mascot_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8324" y="1333467"/>
            <a:ext cx="4190895" cy="4190895"/>
          </a:xfrm>
          <a:prstGeom prst="rect">
            <a:avLst/>
          </a:prstGeom>
        </p:spPr>
      </p:pic>
      <p:sp>
        <p:nvSpPr>
          <p:cNvPr id="64" name="Shape 61"/>
          <p:cNvSpPr/>
          <p:nvPr/>
        </p:nvSpPr>
        <p:spPr>
          <a:xfrm>
            <a:off x="761981" y="5905352"/>
            <a:ext cx="10667733" cy="609585"/>
          </a:xfrm>
          <a:prstGeom prst="roundRect">
            <a:avLst>
              <a:gd name="adj" fmla="val 21875"/>
            </a:avLst>
          </a:prstGeom>
          <a:solidFill>
            <a:srgbClr val="F8FAFC"/>
          </a:solidFill>
          <a:ln/>
        </p:spPr>
      </p:sp>
      <p:sp>
        <p:nvSpPr>
          <p:cNvPr id="65" name="Text 62"/>
          <p:cNvSpPr/>
          <p:nvPr/>
        </p:nvSpPr>
        <p:spPr>
          <a:xfrm>
            <a:off x="952476" y="6019650"/>
            <a:ext cx="4571886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MZ · 부모 · 시니어
</a:t>
            </a:r>
            <a:pPr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 스코어로 검증, 메뉴 가이드로 일상 사용</a:t>
            </a:r>
            <a:endParaRPr lang="en-US" sz="863" dirty="0"/>
          </a:p>
        </p:txBody>
      </p:sp>
      <p:sp>
        <p:nvSpPr>
          <p:cNvPr id="66" name="Text 63"/>
          <p:cNvSpPr/>
          <p:nvPr/>
        </p:nvSpPr>
        <p:spPr>
          <a:xfrm>
            <a:off x="5667233" y="6019650"/>
            <a:ext cx="85722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↕</a:t>
            </a:r>
            <a:endParaRPr lang="en-US" sz="1350" dirty="0"/>
          </a:p>
        </p:txBody>
      </p:sp>
      <p:sp>
        <p:nvSpPr>
          <p:cNvPr id="67" name="Text 64"/>
          <p:cNvSpPr/>
          <p:nvPr/>
        </p:nvSpPr>
        <p:spPr>
          <a:xfrm>
            <a:off x="6572086" y="6019650"/>
            <a:ext cx="485762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63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영세·중소 자영업자
</a:t>
            </a:r>
            <a:pPr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사장님 인증으로 점수 상승, 골든 치즈 매장 마케팅</a:t>
            </a:r>
            <a:endParaRPr lang="en-US" sz="863" dirty="0"/>
          </a:p>
        </p:txBody>
      </p:sp>
      <p:sp>
        <p:nvSpPr>
          <p:cNvPr id="68" name="Shape 65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9" name="Text 66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85722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출품작 핵심내용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87" y="1047724"/>
            <a:ext cx="11124922" cy="36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사용자 여정 — 3개 페르소나 시나리오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387" y="1466813"/>
            <a:ext cx="11124922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소비자(MZ·부모)와 자영업자가 식탐정을 일상에서 어떻게 사용하는지 흐름으로 보여드려요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87" y="1904952"/>
            <a:ext cx="11124922" cy="1238219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6" name="Image 0" descr="/Users/sanghoon/Documents/GitHub/food-detector/presentation/image/personas/persona_off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82" y="2209745"/>
            <a:ext cx="571486" cy="5714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0615" y="2209745"/>
            <a:ext cx="1238219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시나리오 ① 김 과장 (30대)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390615" y="2438339"/>
            <a:ext cx="123821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회식 장소를 정하는 직장인 · 월요일 오후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2666933" y="2114497"/>
            <a:ext cx="9525" cy="8191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2895528" y="2266893"/>
            <a:ext cx="192400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 회식 장소를 검색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800480" y="2381190"/>
            <a:ext cx="171446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048124" y="2266893"/>
            <a:ext cx="192400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식탐정에서 골든 치즈 식당 5곳 비교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6953076" y="2381190"/>
            <a:ext cx="171446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7200720" y="2266893"/>
            <a:ext cx="192400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회식 당일 메뉴 가이드 확인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9105672" y="2381190"/>
            <a:ext cx="171446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9334267" y="2190695"/>
            <a:ext cx="2019250" cy="666733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/>
        </p:spPr>
      </p:sp>
      <p:sp>
        <p:nvSpPr>
          <p:cNvPr id="17" name="Text 14"/>
          <p:cNvSpPr/>
          <p:nvPr/>
        </p:nvSpPr>
        <p:spPr>
          <a:xfrm>
            <a:off x="9429514" y="2266893"/>
            <a:ext cx="1828754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"폭염 + 경계 단계, 회 빼고 고기로" 결정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533387" y="3257469"/>
            <a:ext cx="11124922" cy="1238219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19" name="Image 1" descr="/Users/sanghoon/Documents/GitHub/food-detector/presentation/image/personas/persona_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2" y="3562261"/>
            <a:ext cx="571486" cy="57148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90615" y="3562261"/>
            <a:ext cx="1238219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시나리오 ② 박 어머니 (40대)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1390615" y="3790855"/>
            <a:ext cx="123821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 외식을 고민하는 부모 · 주말 점심</a:t>
            </a:r>
            <a:endParaRPr lang="en-US" sz="825" dirty="0"/>
          </a:p>
        </p:txBody>
      </p:sp>
      <p:sp>
        <p:nvSpPr>
          <p:cNvPr id="22" name="Shape 18"/>
          <p:cNvSpPr/>
          <p:nvPr/>
        </p:nvSpPr>
        <p:spPr>
          <a:xfrm>
            <a:off x="2666933" y="3467013"/>
            <a:ext cx="9525" cy="8191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19"/>
          <p:cNvSpPr/>
          <p:nvPr/>
        </p:nvSpPr>
        <p:spPr>
          <a:xfrm>
            <a:off x="2895528" y="3619410"/>
            <a:ext cx="192400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가족 외식 예정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4800480" y="3733707"/>
            <a:ext cx="171446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75" dirty="0"/>
          </a:p>
        </p:txBody>
      </p:sp>
      <p:sp>
        <p:nvSpPr>
          <p:cNvPr id="25" name="Text 21"/>
          <p:cNvSpPr/>
          <p:nvPr/>
        </p:nvSpPr>
        <p:spPr>
          <a:xfrm>
            <a:off x="5048124" y="3619410"/>
            <a:ext cx="192400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 지도에서 동네 골든 치즈 검색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6953076" y="3733707"/>
            <a:ext cx="171446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7200720" y="3619410"/>
            <a:ext cx="192400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"89점 실버, 메뉴 가이드로 김치찌개 추천"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9105672" y="3733707"/>
            <a:ext cx="171446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75" dirty="0"/>
          </a:p>
        </p:txBody>
      </p:sp>
      <p:sp>
        <p:nvSpPr>
          <p:cNvPr id="29" name="Shape 25"/>
          <p:cNvSpPr/>
          <p:nvPr/>
        </p:nvSpPr>
        <p:spPr>
          <a:xfrm>
            <a:off x="9334267" y="3543211"/>
            <a:ext cx="2019250" cy="666733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/>
        </p:spPr>
      </p:sp>
      <p:sp>
        <p:nvSpPr>
          <p:cNvPr id="30" name="Text 26"/>
          <p:cNvSpPr/>
          <p:nvPr/>
        </p:nvSpPr>
        <p:spPr>
          <a:xfrm>
            <a:off x="9429514" y="3619410"/>
            <a:ext cx="1828754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안심하고 자녀와 외식</a:t>
            </a:r>
            <a:endParaRPr lang="en-US" sz="825" dirty="0"/>
          </a:p>
        </p:txBody>
      </p:sp>
      <p:sp>
        <p:nvSpPr>
          <p:cNvPr id="31" name="Shape 27"/>
          <p:cNvSpPr/>
          <p:nvPr/>
        </p:nvSpPr>
        <p:spPr>
          <a:xfrm>
            <a:off x="533387" y="4609985"/>
            <a:ext cx="11124922" cy="1238219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pic>
        <p:nvPicPr>
          <p:cNvPr id="32" name="Image 2" descr="/Users/sanghoon/Documents/GitHub/food-detector/presentation/image/personas/persona_c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" y="4914777"/>
            <a:ext cx="571486" cy="57148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90615" y="4914777"/>
            <a:ext cx="1238219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시나리오 ③ 이 사장님 (50대)</a:t>
            </a:r>
            <a:endParaRPr lang="en-US" sz="975" dirty="0"/>
          </a:p>
        </p:txBody>
      </p:sp>
      <p:sp>
        <p:nvSpPr>
          <p:cNvPr id="34" name="Text 29"/>
          <p:cNvSpPr/>
          <p:nvPr/>
        </p:nvSpPr>
        <p:spPr>
          <a:xfrm>
            <a:off x="1390615" y="5143371"/>
            <a:ext cx="123821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3년째 분식집 운영 · 위생등급 미신청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2666933" y="4819530"/>
            <a:ext cx="9525" cy="8191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1"/>
          <p:cNvSpPr/>
          <p:nvPr/>
        </p:nvSpPr>
        <p:spPr>
          <a:xfrm>
            <a:off x="2895528" y="4971926"/>
            <a:ext cx="192400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사장님 인증 가입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4800480" y="5086223"/>
            <a:ext cx="171446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75" dirty="0"/>
          </a:p>
        </p:txBody>
      </p:sp>
      <p:sp>
        <p:nvSpPr>
          <p:cNvPr id="38" name="Text 33"/>
          <p:cNvSpPr/>
          <p:nvPr/>
        </p:nvSpPr>
        <p:spPr>
          <a:xfrm>
            <a:off x="5048124" y="4971926"/>
            <a:ext cx="192400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사업자번호 인증(+2) + 주방·화장실 사진 업로드(+3)</a:t>
            </a:r>
            <a:endParaRPr lang="en-US" sz="825" dirty="0"/>
          </a:p>
        </p:txBody>
      </p:sp>
      <p:sp>
        <p:nvSpPr>
          <p:cNvPr id="39" name="Text 34"/>
          <p:cNvSpPr/>
          <p:nvPr/>
        </p:nvSpPr>
        <p:spPr>
          <a:xfrm>
            <a:off x="6953076" y="5086223"/>
            <a:ext cx="171446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75" dirty="0"/>
          </a:p>
        </p:txBody>
      </p:sp>
      <p:sp>
        <p:nvSpPr>
          <p:cNvPr id="40" name="Text 35"/>
          <p:cNvSpPr/>
          <p:nvPr/>
        </p:nvSpPr>
        <p:spPr>
          <a:xfrm>
            <a:off x="7200720" y="4971926"/>
            <a:ext cx="192400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 달 후 손님이 식탐정 보고 찾아옴</a:t>
            </a:r>
            <a:endParaRPr lang="en-US" sz="825" dirty="0"/>
          </a:p>
        </p:txBody>
      </p:sp>
      <p:sp>
        <p:nvSpPr>
          <p:cNvPr id="41" name="Text 36"/>
          <p:cNvSpPr/>
          <p:nvPr/>
        </p:nvSpPr>
        <p:spPr>
          <a:xfrm>
            <a:off x="9105672" y="5086223"/>
            <a:ext cx="171446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975" dirty="0"/>
          </a:p>
        </p:txBody>
      </p:sp>
      <p:sp>
        <p:nvSpPr>
          <p:cNvPr id="42" name="Shape 37"/>
          <p:cNvSpPr/>
          <p:nvPr/>
        </p:nvSpPr>
        <p:spPr>
          <a:xfrm>
            <a:off x="9334267" y="4895728"/>
            <a:ext cx="2019250" cy="666733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/>
        </p:spPr>
      </p:sp>
      <p:sp>
        <p:nvSpPr>
          <p:cNvPr id="43" name="Text 38"/>
          <p:cNvSpPr/>
          <p:nvPr/>
        </p:nvSpPr>
        <p:spPr>
          <a:xfrm>
            <a:off x="9429514" y="4971926"/>
            <a:ext cx="1828754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"내 가게가 브론즈 치즈래요!"</a:t>
            </a:r>
            <a:endParaRPr lang="en-US" sz="825" dirty="0"/>
          </a:p>
        </p:txBody>
      </p:sp>
      <p:sp>
        <p:nvSpPr>
          <p:cNvPr id="44" name="Shape 39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5" name="Text 40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532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867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202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95368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28714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061" y="541006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198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532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867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6202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95368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28714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62061" y="554341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198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532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867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2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95368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28714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62061" y="567675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6198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532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867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6202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95368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28714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562061" y="581010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198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532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2867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6202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95368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28714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62061" y="5943451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198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9532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867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6202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95368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8714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562061" y="6076798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198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9532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2867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6202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95368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428714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562061" y="6210145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1981" y="123821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서비스와의 차별성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1981" y="1523962"/>
            <a:ext cx="3428914" cy="66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식탐정의 자리</a:t>
            </a:r>
            <a:endParaRPr lang="en-US" sz="3300" dirty="0"/>
          </a:p>
        </p:txBody>
      </p:sp>
      <p:sp>
        <p:nvSpPr>
          <p:cNvPr id="53" name="Text 51"/>
          <p:cNvSpPr/>
          <p:nvPr/>
        </p:nvSpPr>
        <p:spPr>
          <a:xfrm>
            <a:off x="761981" y="2571686"/>
            <a:ext cx="3428914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전문성</a:t>
            </a:r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 </a:t>
            </a:r>
            <a:pPr indent="0" marL="0">
              <a:lnSpc>
                <a:spcPct val="17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일상성</a:t>
            </a:r>
            <a:pPr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동시에 충족되는 사분면 — 기존 서비스가 채우지 못한 자리입니다.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761981" y="3619410"/>
            <a:ext cx="3428914" cy="666733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/>
        </p:spPr>
      </p:sp>
      <p:sp>
        <p:nvSpPr>
          <p:cNvPr id="55" name="Shape 53"/>
          <p:cNvSpPr/>
          <p:nvPr/>
        </p:nvSpPr>
        <p:spPr>
          <a:xfrm>
            <a:off x="761981" y="3619410"/>
            <a:ext cx="28574" cy="666733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952476" y="3771806"/>
            <a:ext cx="323841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식탐정만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축을 모두 채우는 우상단 사분면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차지합니다.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43371" y="1047724"/>
            <a:ext cx="6857829" cy="49528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6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143371" y="1257269"/>
            <a:ext cx="666733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POSITIONING MAP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686583" y="1504912"/>
            <a:ext cx="2781230" cy="1943051"/>
          </a:xfrm>
          <a:prstGeom prst="roundRect">
            <a:avLst>
              <a:gd name="adj" fmla="val 3922"/>
            </a:avLst>
          </a:prstGeom>
          <a:solidFill>
            <a:srgbClr val="22C55E">
              <a:alpha val="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905352" y="5391015"/>
            <a:ext cx="5638659" cy="1428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Shape 59"/>
          <p:cNvSpPr/>
          <p:nvPr/>
        </p:nvSpPr>
        <p:spPr>
          <a:xfrm>
            <a:off x="5905352" y="1428714"/>
            <a:ext cx="14287" cy="396230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60"/>
          <p:cNvSpPr/>
          <p:nvPr/>
        </p:nvSpPr>
        <p:spPr>
          <a:xfrm>
            <a:off x="8686583" y="1504912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Shape 61"/>
          <p:cNvSpPr/>
          <p:nvPr/>
        </p:nvSpPr>
        <p:spPr>
          <a:xfrm>
            <a:off x="8686583" y="1581110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Shape 62"/>
          <p:cNvSpPr/>
          <p:nvPr/>
        </p:nvSpPr>
        <p:spPr>
          <a:xfrm>
            <a:off x="8686583" y="1657309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Shape 63"/>
          <p:cNvSpPr/>
          <p:nvPr/>
        </p:nvSpPr>
        <p:spPr>
          <a:xfrm>
            <a:off x="8686583" y="1733507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Shape 64"/>
          <p:cNvSpPr/>
          <p:nvPr/>
        </p:nvSpPr>
        <p:spPr>
          <a:xfrm>
            <a:off x="8686583" y="1809705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5"/>
          <p:cNvSpPr/>
          <p:nvPr/>
        </p:nvSpPr>
        <p:spPr>
          <a:xfrm>
            <a:off x="8686583" y="1885903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Shape 66"/>
          <p:cNvSpPr/>
          <p:nvPr/>
        </p:nvSpPr>
        <p:spPr>
          <a:xfrm>
            <a:off x="8686583" y="1962101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Shape 67"/>
          <p:cNvSpPr/>
          <p:nvPr/>
        </p:nvSpPr>
        <p:spPr>
          <a:xfrm>
            <a:off x="8686583" y="2038299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Shape 68"/>
          <p:cNvSpPr/>
          <p:nvPr/>
        </p:nvSpPr>
        <p:spPr>
          <a:xfrm>
            <a:off x="8686583" y="2114497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Shape 69"/>
          <p:cNvSpPr/>
          <p:nvPr/>
        </p:nvSpPr>
        <p:spPr>
          <a:xfrm>
            <a:off x="8686583" y="2190695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2" name="Shape 70"/>
          <p:cNvSpPr/>
          <p:nvPr/>
        </p:nvSpPr>
        <p:spPr>
          <a:xfrm>
            <a:off x="8686583" y="2266893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Shape 71"/>
          <p:cNvSpPr/>
          <p:nvPr/>
        </p:nvSpPr>
        <p:spPr>
          <a:xfrm>
            <a:off x="8686583" y="2343091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Shape 72"/>
          <p:cNvSpPr/>
          <p:nvPr/>
        </p:nvSpPr>
        <p:spPr>
          <a:xfrm>
            <a:off x="8686583" y="2419290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Shape 73"/>
          <p:cNvSpPr/>
          <p:nvPr/>
        </p:nvSpPr>
        <p:spPr>
          <a:xfrm>
            <a:off x="8686583" y="2495488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Shape 74"/>
          <p:cNvSpPr/>
          <p:nvPr/>
        </p:nvSpPr>
        <p:spPr>
          <a:xfrm>
            <a:off x="8686583" y="2571686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Shape 75"/>
          <p:cNvSpPr/>
          <p:nvPr/>
        </p:nvSpPr>
        <p:spPr>
          <a:xfrm>
            <a:off x="8686583" y="2647884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Shape 76"/>
          <p:cNvSpPr/>
          <p:nvPr/>
        </p:nvSpPr>
        <p:spPr>
          <a:xfrm>
            <a:off x="8686583" y="2724082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9" name="Shape 77"/>
          <p:cNvSpPr/>
          <p:nvPr/>
        </p:nvSpPr>
        <p:spPr>
          <a:xfrm>
            <a:off x="8686583" y="2800280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Shape 78"/>
          <p:cNvSpPr/>
          <p:nvPr/>
        </p:nvSpPr>
        <p:spPr>
          <a:xfrm>
            <a:off x="8686583" y="2876478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" name="Shape 79"/>
          <p:cNvSpPr/>
          <p:nvPr/>
        </p:nvSpPr>
        <p:spPr>
          <a:xfrm>
            <a:off x="8686583" y="2952676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" name="Shape 80"/>
          <p:cNvSpPr/>
          <p:nvPr/>
        </p:nvSpPr>
        <p:spPr>
          <a:xfrm>
            <a:off x="8686583" y="3028874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3" name="Shape 81"/>
          <p:cNvSpPr/>
          <p:nvPr/>
        </p:nvSpPr>
        <p:spPr>
          <a:xfrm>
            <a:off x="8686583" y="3105072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Shape 82"/>
          <p:cNvSpPr/>
          <p:nvPr/>
        </p:nvSpPr>
        <p:spPr>
          <a:xfrm>
            <a:off x="8686583" y="3181270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Shape 83"/>
          <p:cNvSpPr/>
          <p:nvPr/>
        </p:nvSpPr>
        <p:spPr>
          <a:xfrm>
            <a:off x="8686583" y="3257469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Shape 84"/>
          <p:cNvSpPr/>
          <p:nvPr/>
        </p:nvSpPr>
        <p:spPr>
          <a:xfrm>
            <a:off x="8686583" y="3333667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7" name="Shape 85"/>
          <p:cNvSpPr/>
          <p:nvPr/>
        </p:nvSpPr>
        <p:spPr>
          <a:xfrm>
            <a:off x="8686583" y="3409865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Shape 86"/>
          <p:cNvSpPr/>
          <p:nvPr/>
        </p:nvSpPr>
        <p:spPr>
          <a:xfrm>
            <a:off x="8686583" y="3486063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9" name="Shape 87"/>
          <p:cNvSpPr/>
          <p:nvPr/>
        </p:nvSpPr>
        <p:spPr>
          <a:xfrm>
            <a:off x="8686583" y="3562261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Shape 88"/>
          <p:cNvSpPr/>
          <p:nvPr/>
        </p:nvSpPr>
        <p:spPr>
          <a:xfrm>
            <a:off x="8686583" y="3638459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1" name="Shape 89"/>
          <p:cNvSpPr/>
          <p:nvPr/>
        </p:nvSpPr>
        <p:spPr>
          <a:xfrm>
            <a:off x="8686583" y="3714657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" name="Shape 90"/>
          <p:cNvSpPr/>
          <p:nvPr/>
        </p:nvSpPr>
        <p:spPr>
          <a:xfrm>
            <a:off x="8686583" y="3790855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3" name="Shape 91"/>
          <p:cNvSpPr/>
          <p:nvPr/>
        </p:nvSpPr>
        <p:spPr>
          <a:xfrm>
            <a:off x="8686583" y="3867053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Shape 92"/>
          <p:cNvSpPr/>
          <p:nvPr/>
        </p:nvSpPr>
        <p:spPr>
          <a:xfrm>
            <a:off x="8686583" y="3943251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5" name="Shape 93"/>
          <p:cNvSpPr/>
          <p:nvPr/>
        </p:nvSpPr>
        <p:spPr>
          <a:xfrm>
            <a:off x="8686583" y="4019450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6" name="Shape 94"/>
          <p:cNvSpPr/>
          <p:nvPr/>
        </p:nvSpPr>
        <p:spPr>
          <a:xfrm>
            <a:off x="8686583" y="4095648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7" name="Shape 95"/>
          <p:cNvSpPr/>
          <p:nvPr/>
        </p:nvSpPr>
        <p:spPr>
          <a:xfrm>
            <a:off x="8686583" y="4171846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Shape 96"/>
          <p:cNvSpPr/>
          <p:nvPr/>
        </p:nvSpPr>
        <p:spPr>
          <a:xfrm>
            <a:off x="8686583" y="4248044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9" name="Shape 97"/>
          <p:cNvSpPr/>
          <p:nvPr/>
        </p:nvSpPr>
        <p:spPr>
          <a:xfrm>
            <a:off x="8686583" y="4324242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0" name="Shape 98"/>
          <p:cNvSpPr/>
          <p:nvPr/>
        </p:nvSpPr>
        <p:spPr>
          <a:xfrm>
            <a:off x="8686583" y="4400440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1" name="Shape 99"/>
          <p:cNvSpPr/>
          <p:nvPr/>
        </p:nvSpPr>
        <p:spPr>
          <a:xfrm>
            <a:off x="8686583" y="4476638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686583" y="4552836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686583" y="4629034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686583" y="4705232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686583" y="4781430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686583" y="4857629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686583" y="4933827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686583" y="5010025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8686583" y="5086223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686583" y="5162421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686583" y="5238619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686583" y="5314817"/>
            <a:ext cx="9525" cy="3809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905352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981550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05774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6133947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210145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286343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362541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643873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6514937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591135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667333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743531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819730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895928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972126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7048324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7124522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7200720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276918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7353116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7429314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7505512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7581710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765790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7734107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7810305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7886503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7962701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03889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8115097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8191295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8267493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8343691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841988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8496088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8572286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8648484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8724682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8800880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8877078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953276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029474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105672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9181870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25806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334267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410465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486663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562861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63905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715257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9791455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9867653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943851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002004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096248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0172446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248644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0324842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401040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0477238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0553436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0629634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705832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0782030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1085822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10934427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11010625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11086823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2" name="Shape 180"/>
          <p:cNvSpPr/>
          <p:nvPr/>
        </p:nvSpPr>
        <p:spPr>
          <a:xfrm>
            <a:off x="11163021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3" name="Shape 181"/>
          <p:cNvSpPr/>
          <p:nvPr/>
        </p:nvSpPr>
        <p:spPr>
          <a:xfrm>
            <a:off x="11239219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1315417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5" name="Shape 183"/>
          <p:cNvSpPr/>
          <p:nvPr/>
        </p:nvSpPr>
        <p:spPr>
          <a:xfrm>
            <a:off x="11391615" y="3447964"/>
            <a:ext cx="380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6" name="Text 184"/>
          <p:cNvSpPr/>
          <p:nvPr/>
        </p:nvSpPr>
        <p:spPr>
          <a:xfrm>
            <a:off x="5791055" y="1238219"/>
            <a:ext cx="114297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전문성 ↑</a:t>
            </a:r>
            <a:endParaRPr lang="en-US" sz="825" dirty="0"/>
          </a:p>
        </p:txBody>
      </p:sp>
      <p:sp>
        <p:nvSpPr>
          <p:cNvPr id="187" name="Text 185"/>
          <p:cNvSpPr/>
          <p:nvPr/>
        </p:nvSpPr>
        <p:spPr>
          <a:xfrm>
            <a:off x="10705832" y="5524362"/>
            <a:ext cx="7619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일상성 →</a:t>
            </a:r>
            <a:endParaRPr lang="en-US" sz="825" dirty="0"/>
          </a:p>
        </p:txBody>
      </p:sp>
      <p:sp>
        <p:nvSpPr>
          <p:cNvPr id="188" name="Shape 186"/>
          <p:cNvSpPr/>
          <p:nvPr/>
        </p:nvSpPr>
        <p:spPr>
          <a:xfrm>
            <a:off x="7033846" y="2342329"/>
            <a:ext cx="190495" cy="190495"/>
          </a:xfrm>
          <a:prstGeom prst="ellipse">
            <a:avLst/>
          </a:prstGeom>
          <a:solidFill>
            <a:srgbClr val="94A3B8">
              <a:alpha val="50000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7071945" y="2380428"/>
            <a:ext cx="114297" cy="114297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0" name="Text 188"/>
          <p:cNvSpPr/>
          <p:nvPr/>
        </p:nvSpPr>
        <p:spPr>
          <a:xfrm>
            <a:off x="6462360" y="2609023"/>
            <a:ext cx="133346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식품안전나라</a:t>
            </a:r>
            <a:endParaRPr lang="en-US" sz="863" dirty="0"/>
          </a:p>
        </p:txBody>
      </p:sp>
      <p:sp>
        <p:nvSpPr>
          <p:cNvPr id="191" name="Text 189"/>
          <p:cNvSpPr/>
          <p:nvPr/>
        </p:nvSpPr>
        <p:spPr>
          <a:xfrm>
            <a:off x="6414737" y="2799518"/>
            <a:ext cx="142871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데이터는 있지만</a:t>
            </a:r>
            <a:endParaRPr lang="en-US" sz="7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일반인 접근 어려움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9904228" y="2208983"/>
            <a:ext cx="457189" cy="457189"/>
          </a:xfrm>
          <a:prstGeom prst="ellipse">
            <a:avLst/>
          </a:prstGeom>
          <a:solidFill>
            <a:srgbClr val="22C55E">
              <a:alpha val="10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9970902" y="2275656"/>
            <a:ext cx="323842" cy="323842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10028050" y="2332805"/>
            <a:ext cx="209545" cy="209545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52400" dist="50800" dir="5400000">
              <a:srgbClr val="16A34A">
                <a:alpha val="5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9370842" y="2666171"/>
            <a:ext cx="1523962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200" dirty="0"/>
          </a:p>
        </p:txBody>
      </p:sp>
      <p:sp>
        <p:nvSpPr>
          <p:cNvPr id="196" name="Text 194"/>
          <p:cNvSpPr/>
          <p:nvPr/>
        </p:nvSpPr>
        <p:spPr>
          <a:xfrm>
            <a:off x="9275594" y="2894766"/>
            <a:ext cx="171445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전문성 + 일상성을</a:t>
            </a:r>
            <a:endParaRPr lang="en-US" sz="825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동시에 채우는 보완재</a:t>
            </a:r>
            <a:endParaRPr lang="en-US" sz="825" dirty="0"/>
          </a:p>
        </p:txBody>
      </p:sp>
      <p:sp>
        <p:nvSpPr>
          <p:cNvPr id="197" name="Shape 195"/>
          <p:cNvSpPr/>
          <p:nvPr/>
        </p:nvSpPr>
        <p:spPr>
          <a:xfrm>
            <a:off x="7033846" y="4440825"/>
            <a:ext cx="190495" cy="190495"/>
          </a:xfrm>
          <a:prstGeom prst="ellipse">
            <a:avLst/>
          </a:prstGeom>
          <a:solidFill>
            <a:srgbClr val="94A3B8">
              <a:alpha val="50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7071945" y="4478924"/>
            <a:ext cx="114297" cy="114297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9" name="Text 197"/>
          <p:cNvSpPr/>
          <p:nvPr/>
        </p:nvSpPr>
        <p:spPr>
          <a:xfrm>
            <a:off x="6462360" y="4707518"/>
            <a:ext cx="133346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에코유가이드</a:t>
            </a:r>
            <a:endParaRPr lang="en-US" sz="863" dirty="0"/>
          </a:p>
        </p:txBody>
      </p:sp>
      <p:sp>
        <p:nvSpPr>
          <p:cNvPr id="200" name="Text 198"/>
          <p:cNvSpPr/>
          <p:nvPr/>
        </p:nvSpPr>
        <p:spPr>
          <a:xfrm>
            <a:off x="6414737" y="4898014"/>
            <a:ext cx="142871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단일 지표</a:t>
            </a:r>
            <a:endParaRPr lang="en-US" sz="7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사실상 운영 중단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10037575" y="4440825"/>
            <a:ext cx="190495" cy="190495"/>
          </a:xfrm>
          <a:prstGeom prst="ellipse">
            <a:avLst/>
          </a:prstGeom>
          <a:solidFill>
            <a:srgbClr val="94A3B8">
              <a:alpha val="50000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10075674" y="4478924"/>
            <a:ext cx="114297" cy="114297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03" name="Text 201"/>
          <p:cNvSpPr/>
          <p:nvPr/>
        </p:nvSpPr>
        <p:spPr>
          <a:xfrm>
            <a:off x="9466089" y="4707518"/>
            <a:ext cx="133346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배민·네이버·카카오</a:t>
            </a:r>
            <a:endParaRPr lang="en-US" sz="863" dirty="0"/>
          </a:p>
        </p:txBody>
      </p:sp>
      <p:sp>
        <p:nvSpPr>
          <p:cNvPr id="204" name="Text 202"/>
          <p:cNvSpPr/>
          <p:nvPr/>
        </p:nvSpPr>
        <p:spPr>
          <a:xfrm>
            <a:off x="9418466" y="4898014"/>
            <a:ext cx="142871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일상성은 있지만</a:t>
            </a:r>
            <a:endParaRPr lang="en-US" sz="7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위생은 부수적</a:t>
            </a:r>
            <a:endParaRPr lang="en-US" sz="750" dirty="0"/>
          </a:p>
        </p:txBody>
      </p:sp>
      <p:sp>
        <p:nvSpPr>
          <p:cNvPr id="205" name="Shape 203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6" name="Text 204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207" name="Text 205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85722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서비스와의 차별성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87" y="1047724"/>
            <a:ext cx="1112492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3개 영역 경쟁 분석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33387" y="1666833"/>
            <a:ext cx="5524362" cy="238119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832" y="1819230"/>
            <a:ext cx="518147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전문 서비스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704832" y="2047824"/>
            <a:ext cx="1238219" cy="533387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/Users/sanghoon/Documents/GitHub/food-detector/presentation/image/logos/icon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085923"/>
            <a:ext cx="209545" cy="2095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832" y="2333567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에코유가이드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2019250" y="2047824"/>
            <a:ext cx="1238219" cy="533387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9250" y="2104972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USA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19250" y="2333567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OpenKitchen</a:t>
            </a:r>
            <a:endParaRPr lang="en-US" sz="825" dirty="0"/>
          </a:p>
        </p:txBody>
      </p:sp>
      <p:sp>
        <p:nvSpPr>
          <p:cNvPr id="12" name="Shape 9"/>
          <p:cNvSpPr/>
          <p:nvPr/>
        </p:nvSpPr>
        <p:spPr>
          <a:xfrm>
            <a:off x="3333667" y="2047824"/>
            <a:ext cx="1238219" cy="533387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/Users/sanghoon/Documents/GitHub/food-detector/presentation/image/logos/icon_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004" y="2085923"/>
            <a:ext cx="209545" cy="2095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3667" y="2333567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식품안전나라</a:t>
            </a:r>
            <a:endParaRPr lang="en-US" sz="825" dirty="0"/>
          </a:p>
        </p:txBody>
      </p:sp>
      <p:sp>
        <p:nvSpPr>
          <p:cNvPr id="15" name="Shape 11"/>
          <p:cNvSpPr/>
          <p:nvPr/>
        </p:nvSpPr>
        <p:spPr>
          <a:xfrm>
            <a:off x="4648084" y="2047824"/>
            <a:ext cx="1238219" cy="533387"/>
          </a:xfrm>
          <a:prstGeom prst="roundRect">
            <a:avLst>
              <a:gd name="adj" fmla="val 17857"/>
            </a:avLst>
          </a:prstGeom>
          <a:solidFill>
            <a:srgbClr val="22C55E"/>
          </a:solidFill>
          <a:ln/>
          <a:effectLst>
            <a:outerShdw sx="100000" sy="100000" kx="0" ky="0" algn="bl" rotWithShape="0" blurRad="127000" dist="38100" dir="5400000">
              <a:srgbClr val="16A34A">
                <a:alpha val="25000"/>
              </a:srgbClr>
            </a:outerShdw>
          </a:effectLst>
        </p:spPr>
      </p:sp>
      <p:pic>
        <p:nvPicPr>
          <p:cNvPr id="16" name="Image 2" descr="/Users/sanghoon/Documents/GitHub/food-detector/presentation/image/logos/icon_chee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421" y="2085923"/>
            <a:ext cx="209545" cy="2095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48084" y="2333567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825" dirty="0"/>
          </a:p>
        </p:txBody>
      </p:sp>
      <p:sp>
        <p:nvSpPr>
          <p:cNvPr id="18" name="Shape 13"/>
          <p:cNvSpPr/>
          <p:nvPr/>
        </p:nvSpPr>
        <p:spPr>
          <a:xfrm>
            <a:off x="704832" y="2733607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4"/>
          <p:cNvSpPr/>
          <p:nvPr/>
        </p:nvSpPr>
        <p:spPr>
          <a:xfrm>
            <a:off x="704832" y="2790755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데이터</a:t>
            </a:r>
            <a:endParaRPr lang="en-US" sz="788" dirty="0"/>
          </a:p>
        </p:txBody>
      </p:sp>
      <p:sp>
        <p:nvSpPr>
          <p:cNvPr id="20" name="Text 15"/>
          <p:cNvSpPr/>
          <p:nvPr/>
        </p:nvSpPr>
        <p:spPr>
          <a:xfrm>
            <a:off x="1581110" y="2790755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위생등급 단일</a:t>
            </a:r>
            <a:endParaRPr lang="en-US" sz="788" dirty="0"/>
          </a:p>
        </p:txBody>
      </p:sp>
      <p:sp>
        <p:nvSpPr>
          <p:cNvPr id="21" name="Text 16"/>
          <p:cNvSpPr/>
          <p:nvPr/>
        </p:nvSpPr>
        <p:spPr>
          <a:xfrm>
            <a:off x="2676458" y="2790755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미국 점검 기록</a:t>
            </a:r>
            <a:endParaRPr lang="en-US" sz="788" dirty="0"/>
          </a:p>
        </p:txBody>
      </p:sp>
      <p:sp>
        <p:nvSpPr>
          <p:cNvPr id="22" name="Text 17"/>
          <p:cNvSpPr/>
          <p:nvPr/>
        </p:nvSpPr>
        <p:spPr>
          <a:xfrm>
            <a:off x="3771806" y="2790755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분야별 분산</a:t>
            </a:r>
            <a:endParaRPr lang="en-US" sz="788" dirty="0"/>
          </a:p>
        </p:txBody>
      </p:sp>
      <p:sp>
        <p:nvSpPr>
          <p:cNvPr id="23" name="Text 18"/>
          <p:cNvSpPr/>
          <p:nvPr/>
        </p:nvSpPr>
        <p:spPr>
          <a:xfrm>
            <a:off x="4867153" y="2790755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5기관 15종 통합</a:t>
            </a:r>
            <a:endParaRPr lang="en-US" sz="788" dirty="0"/>
          </a:p>
        </p:txBody>
      </p:sp>
      <p:sp>
        <p:nvSpPr>
          <p:cNvPr id="24" name="Shape 19"/>
          <p:cNvSpPr/>
          <p:nvPr/>
        </p:nvSpPr>
        <p:spPr>
          <a:xfrm>
            <a:off x="704832" y="2981250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0"/>
          <p:cNvSpPr/>
          <p:nvPr/>
        </p:nvSpPr>
        <p:spPr>
          <a:xfrm>
            <a:off x="704832" y="3038399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분석</a:t>
            </a:r>
            <a:endParaRPr lang="en-US" sz="788" dirty="0"/>
          </a:p>
        </p:txBody>
      </p:sp>
      <p:sp>
        <p:nvSpPr>
          <p:cNvPr id="26" name="Text 21"/>
          <p:cNvSpPr/>
          <p:nvPr/>
        </p:nvSpPr>
        <p:spPr>
          <a:xfrm>
            <a:off x="1581110" y="3038399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27" name="Text 22"/>
          <p:cNvSpPr/>
          <p:nvPr/>
        </p:nvSpPr>
        <p:spPr>
          <a:xfrm>
            <a:off x="2676458" y="3038399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28" name="Text 23"/>
          <p:cNvSpPr/>
          <p:nvPr/>
        </p:nvSpPr>
        <p:spPr>
          <a:xfrm>
            <a:off x="3771806" y="3038399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29" name="Text 24"/>
          <p:cNvSpPr/>
          <p:nvPr/>
        </p:nvSpPr>
        <p:spPr>
          <a:xfrm>
            <a:off x="4867153" y="3038399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LLM 위생 감성</a:t>
            </a:r>
            <a:endParaRPr lang="en-US" sz="788" dirty="0"/>
          </a:p>
        </p:txBody>
      </p:sp>
      <p:sp>
        <p:nvSpPr>
          <p:cNvPr id="30" name="Shape 25"/>
          <p:cNvSpPr/>
          <p:nvPr/>
        </p:nvSpPr>
        <p:spPr>
          <a:xfrm>
            <a:off x="704832" y="3228894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6"/>
          <p:cNvSpPr/>
          <p:nvPr/>
        </p:nvSpPr>
        <p:spPr>
          <a:xfrm>
            <a:off x="704832" y="3286043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 보정</a:t>
            </a:r>
            <a:endParaRPr lang="en-US" sz="788" dirty="0"/>
          </a:p>
        </p:txBody>
      </p:sp>
      <p:sp>
        <p:nvSpPr>
          <p:cNvPr id="32" name="Text 27"/>
          <p:cNvSpPr/>
          <p:nvPr/>
        </p:nvSpPr>
        <p:spPr>
          <a:xfrm>
            <a:off x="1581110" y="3286043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33" name="Text 28"/>
          <p:cNvSpPr/>
          <p:nvPr/>
        </p:nvSpPr>
        <p:spPr>
          <a:xfrm>
            <a:off x="2676458" y="3286043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34" name="Text 29"/>
          <p:cNvSpPr/>
          <p:nvPr/>
        </p:nvSpPr>
        <p:spPr>
          <a:xfrm>
            <a:off x="3771806" y="3286043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35" name="Text 30"/>
          <p:cNvSpPr/>
          <p:nvPr/>
        </p:nvSpPr>
        <p:spPr>
          <a:xfrm>
            <a:off x="4867153" y="3286043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Gap 탐지 엔진</a:t>
            </a:r>
            <a:endParaRPr lang="en-US" sz="788" dirty="0"/>
          </a:p>
        </p:txBody>
      </p:sp>
      <p:sp>
        <p:nvSpPr>
          <p:cNvPr id="36" name="Shape 31"/>
          <p:cNvSpPr/>
          <p:nvPr/>
        </p:nvSpPr>
        <p:spPr>
          <a:xfrm>
            <a:off x="704832" y="3476538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2"/>
          <p:cNvSpPr/>
          <p:nvPr/>
        </p:nvSpPr>
        <p:spPr>
          <a:xfrm>
            <a:off x="704832" y="3533687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사장님 참여</a:t>
            </a:r>
            <a:endParaRPr lang="en-US" sz="788" dirty="0"/>
          </a:p>
        </p:txBody>
      </p:sp>
      <p:sp>
        <p:nvSpPr>
          <p:cNvPr id="38" name="Text 33"/>
          <p:cNvSpPr/>
          <p:nvPr/>
        </p:nvSpPr>
        <p:spPr>
          <a:xfrm>
            <a:off x="1581110" y="3533687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39" name="Text 34"/>
          <p:cNvSpPr/>
          <p:nvPr/>
        </p:nvSpPr>
        <p:spPr>
          <a:xfrm>
            <a:off x="2676458" y="3533687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40" name="Text 35"/>
          <p:cNvSpPr/>
          <p:nvPr/>
        </p:nvSpPr>
        <p:spPr>
          <a:xfrm>
            <a:off x="3771806" y="3533687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41" name="Text 36"/>
          <p:cNvSpPr/>
          <p:nvPr/>
        </p:nvSpPr>
        <p:spPr>
          <a:xfrm>
            <a:off x="4867153" y="3533687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인증 채널</a:t>
            </a:r>
            <a:endParaRPr lang="en-US" sz="788" dirty="0"/>
          </a:p>
        </p:txBody>
      </p:sp>
      <p:sp>
        <p:nvSpPr>
          <p:cNvPr id="42" name="Shape 37"/>
          <p:cNvSpPr/>
          <p:nvPr/>
        </p:nvSpPr>
        <p:spPr>
          <a:xfrm>
            <a:off x="704832" y="3724182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38"/>
          <p:cNvSpPr/>
          <p:nvPr/>
        </p:nvSpPr>
        <p:spPr>
          <a:xfrm>
            <a:off x="704832" y="3781330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상태</a:t>
            </a:r>
            <a:endParaRPr lang="en-US" sz="788" dirty="0"/>
          </a:p>
        </p:txBody>
      </p:sp>
      <p:sp>
        <p:nvSpPr>
          <p:cNvPr id="44" name="Text 39"/>
          <p:cNvSpPr/>
          <p:nvPr/>
        </p:nvSpPr>
        <p:spPr>
          <a:xfrm>
            <a:off x="1581110" y="3781330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사실상 중단</a:t>
            </a:r>
            <a:endParaRPr lang="en-US" sz="788" dirty="0"/>
          </a:p>
        </p:txBody>
      </p:sp>
      <p:sp>
        <p:nvSpPr>
          <p:cNvPr id="45" name="Text 40"/>
          <p:cNvSpPr/>
          <p:nvPr/>
        </p:nvSpPr>
        <p:spPr>
          <a:xfrm>
            <a:off x="2676458" y="3781330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미국 한정</a:t>
            </a:r>
            <a:endParaRPr lang="en-US" sz="788" dirty="0"/>
          </a:p>
        </p:txBody>
      </p:sp>
      <p:sp>
        <p:nvSpPr>
          <p:cNvPr id="46" name="Text 41"/>
          <p:cNvSpPr/>
          <p:nvPr/>
        </p:nvSpPr>
        <p:spPr>
          <a:xfrm>
            <a:off x="3771806" y="3781330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조회만</a:t>
            </a:r>
            <a:endParaRPr lang="en-US" sz="788" dirty="0"/>
          </a:p>
        </p:txBody>
      </p:sp>
      <p:sp>
        <p:nvSpPr>
          <p:cNvPr id="47" name="Text 42"/>
          <p:cNvSpPr/>
          <p:nvPr/>
        </p:nvSpPr>
        <p:spPr>
          <a:xfrm>
            <a:off x="4867153" y="3781330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 출시</a:t>
            </a:r>
            <a:endParaRPr lang="en-US" sz="788" dirty="0"/>
          </a:p>
        </p:txBody>
      </p:sp>
      <p:sp>
        <p:nvSpPr>
          <p:cNvPr id="48" name="Shape 43"/>
          <p:cNvSpPr/>
          <p:nvPr/>
        </p:nvSpPr>
        <p:spPr>
          <a:xfrm>
            <a:off x="6133947" y="1666833"/>
            <a:ext cx="5524362" cy="238119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6305392" y="1819230"/>
            <a:ext cx="518147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식당 발견 플랫폼</a:t>
            </a:r>
            <a:endParaRPr lang="en-US" sz="975" dirty="0"/>
          </a:p>
        </p:txBody>
      </p:sp>
      <p:sp>
        <p:nvSpPr>
          <p:cNvPr id="50" name="Shape 45"/>
          <p:cNvSpPr/>
          <p:nvPr/>
        </p:nvSpPr>
        <p:spPr>
          <a:xfrm>
            <a:off x="6305392" y="2047824"/>
            <a:ext cx="1238219" cy="533387"/>
          </a:xfrm>
          <a:prstGeom prst="roundRect">
            <a:avLst>
              <a:gd name="adj" fmla="val 17857"/>
            </a:avLst>
          </a:prstGeom>
          <a:solidFill>
            <a:srgbClr val="2AC1BC"/>
          </a:solidFill>
          <a:ln/>
        </p:spPr>
      </p:sp>
      <p:sp>
        <p:nvSpPr>
          <p:cNvPr id="51" name="Text 46"/>
          <p:cNvSpPr/>
          <p:nvPr/>
        </p:nvSpPr>
        <p:spPr>
          <a:xfrm>
            <a:off x="6305392" y="2104972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배민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6305392" y="2333567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배달의민족</a:t>
            </a:r>
            <a:endParaRPr lang="en-US" sz="825" dirty="0"/>
          </a:p>
        </p:txBody>
      </p:sp>
      <p:sp>
        <p:nvSpPr>
          <p:cNvPr id="53" name="Shape 48"/>
          <p:cNvSpPr/>
          <p:nvPr/>
        </p:nvSpPr>
        <p:spPr>
          <a:xfrm>
            <a:off x="7619809" y="2047824"/>
            <a:ext cx="1238219" cy="533387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4" name="Image 3" descr="/Users/sanghoon/Documents/GitHub/food-detector/presentation/image/logos/na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147" y="2085923"/>
            <a:ext cx="209545" cy="209545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7619809" y="2333567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네이버</a:t>
            </a:r>
            <a:endParaRPr lang="en-US" sz="825" dirty="0"/>
          </a:p>
        </p:txBody>
      </p:sp>
      <p:sp>
        <p:nvSpPr>
          <p:cNvPr id="56" name="Shape 50"/>
          <p:cNvSpPr/>
          <p:nvPr/>
        </p:nvSpPr>
        <p:spPr>
          <a:xfrm>
            <a:off x="8934227" y="2047824"/>
            <a:ext cx="1238219" cy="533387"/>
          </a:xfrm>
          <a:prstGeom prst="roundRect">
            <a:avLst>
              <a:gd name="adj" fmla="val 17857"/>
            </a:avLst>
          </a:prstGeom>
          <a:solidFill>
            <a:srgbClr val="FEE500"/>
          </a:solidFill>
          <a:ln/>
        </p:spPr>
      </p:sp>
      <p:pic>
        <p:nvPicPr>
          <p:cNvPr id="57" name="Image 4" descr="/Users/sanghoon/Documents/GitHub/food-detector/presentation/image/logos/kaka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564" y="2085923"/>
            <a:ext cx="209545" cy="209545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8934227" y="2333567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카카오</a:t>
            </a:r>
            <a:endParaRPr lang="en-US" sz="825" dirty="0"/>
          </a:p>
        </p:txBody>
      </p:sp>
      <p:sp>
        <p:nvSpPr>
          <p:cNvPr id="59" name="Shape 52"/>
          <p:cNvSpPr/>
          <p:nvPr/>
        </p:nvSpPr>
        <p:spPr>
          <a:xfrm>
            <a:off x="10248644" y="2047824"/>
            <a:ext cx="1238219" cy="533387"/>
          </a:xfrm>
          <a:prstGeom prst="roundRect">
            <a:avLst>
              <a:gd name="adj" fmla="val 17857"/>
            </a:avLst>
          </a:prstGeom>
          <a:solidFill>
            <a:srgbClr val="22C55E"/>
          </a:solidFill>
          <a:ln/>
          <a:effectLst>
            <a:outerShdw sx="100000" sy="100000" kx="0" ky="0" algn="bl" rotWithShape="0" blurRad="127000" dist="38100" dir="5400000">
              <a:srgbClr val="16A34A">
                <a:alpha val="25000"/>
              </a:srgbClr>
            </a:outerShdw>
          </a:effectLst>
        </p:spPr>
      </p:sp>
      <p:pic>
        <p:nvPicPr>
          <p:cNvPr id="60" name="Image 5" descr="/Users/sanghoon/Documents/GitHub/food-detector/presentation/image/logos/icon_chee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2981" y="2085923"/>
            <a:ext cx="209545" cy="209545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10248644" y="2333567"/>
            <a:ext cx="12382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825" dirty="0"/>
          </a:p>
        </p:txBody>
      </p:sp>
      <p:sp>
        <p:nvSpPr>
          <p:cNvPr id="62" name="Shape 54"/>
          <p:cNvSpPr/>
          <p:nvPr/>
        </p:nvSpPr>
        <p:spPr>
          <a:xfrm>
            <a:off x="6305392" y="2733607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55"/>
          <p:cNvSpPr/>
          <p:nvPr/>
        </p:nvSpPr>
        <p:spPr>
          <a:xfrm>
            <a:off x="6305392" y="2790755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주된 가치</a:t>
            </a:r>
            <a:endParaRPr lang="en-US" sz="788" dirty="0"/>
          </a:p>
        </p:txBody>
      </p:sp>
      <p:sp>
        <p:nvSpPr>
          <p:cNvPr id="64" name="Text 56"/>
          <p:cNvSpPr/>
          <p:nvPr/>
        </p:nvSpPr>
        <p:spPr>
          <a:xfrm>
            <a:off x="7181670" y="2790755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주문</a:t>
            </a:r>
            <a:endParaRPr lang="en-US" sz="788" dirty="0"/>
          </a:p>
        </p:txBody>
      </p:sp>
      <p:sp>
        <p:nvSpPr>
          <p:cNvPr id="65" name="Text 57"/>
          <p:cNvSpPr/>
          <p:nvPr/>
        </p:nvSpPr>
        <p:spPr>
          <a:xfrm>
            <a:off x="8277018" y="2790755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검색·리뷰</a:t>
            </a:r>
            <a:endParaRPr lang="en-US" sz="788" dirty="0"/>
          </a:p>
        </p:txBody>
      </p:sp>
      <p:sp>
        <p:nvSpPr>
          <p:cNvPr id="66" name="Text 58"/>
          <p:cNvSpPr/>
          <p:nvPr/>
        </p:nvSpPr>
        <p:spPr>
          <a:xfrm>
            <a:off x="9372366" y="2790755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위치·리뷰</a:t>
            </a:r>
            <a:endParaRPr lang="en-US" sz="788" dirty="0"/>
          </a:p>
        </p:txBody>
      </p:sp>
      <p:sp>
        <p:nvSpPr>
          <p:cNvPr id="67" name="Text 59"/>
          <p:cNvSpPr/>
          <p:nvPr/>
        </p:nvSpPr>
        <p:spPr>
          <a:xfrm>
            <a:off x="10467713" y="2790755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검증</a:t>
            </a:r>
            <a:endParaRPr lang="en-US" sz="788" dirty="0"/>
          </a:p>
        </p:txBody>
      </p:sp>
      <p:sp>
        <p:nvSpPr>
          <p:cNvPr id="68" name="Shape 60"/>
          <p:cNvSpPr/>
          <p:nvPr/>
        </p:nvSpPr>
        <p:spPr>
          <a:xfrm>
            <a:off x="6305392" y="2981250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Text 61"/>
          <p:cNvSpPr/>
          <p:nvPr/>
        </p:nvSpPr>
        <p:spPr>
          <a:xfrm>
            <a:off x="6305392" y="3038399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별점 신뢰</a:t>
            </a:r>
            <a:endParaRPr lang="en-US" sz="788" dirty="0"/>
          </a:p>
        </p:txBody>
      </p:sp>
      <p:sp>
        <p:nvSpPr>
          <p:cNvPr id="70" name="Text 62"/>
          <p:cNvSpPr/>
          <p:nvPr/>
        </p:nvSpPr>
        <p:spPr>
          <a:xfrm>
            <a:off x="7181670" y="3038399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광고 비중↑</a:t>
            </a:r>
            <a:endParaRPr lang="en-US" sz="788" dirty="0"/>
          </a:p>
        </p:txBody>
      </p:sp>
      <p:sp>
        <p:nvSpPr>
          <p:cNvPr id="71" name="Text 63"/>
          <p:cNvSpPr/>
          <p:nvPr/>
        </p:nvSpPr>
        <p:spPr>
          <a:xfrm>
            <a:off x="8277018" y="3038399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 조작</a:t>
            </a:r>
            <a:endParaRPr lang="en-US" sz="788" dirty="0"/>
          </a:p>
        </p:txBody>
      </p:sp>
      <p:sp>
        <p:nvSpPr>
          <p:cNvPr id="72" name="Text 64"/>
          <p:cNvSpPr/>
          <p:nvPr/>
        </p:nvSpPr>
        <p:spPr>
          <a:xfrm>
            <a:off x="9372366" y="3038399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별점 영향</a:t>
            </a:r>
            <a:endParaRPr lang="en-US" sz="788" dirty="0"/>
          </a:p>
        </p:txBody>
      </p:sp>
      <p:sp>
        <p:nvSpPr>
          <p:cNvPr id="73" name="Text 65"/>
          <p:cNvSpPr/>
          <p:nvPr/>
        </p:nvSpPr>
        <p:spPr>
          <a:xfrm>
            <a:off x="10467713" y="3038399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공공데이터 70%</a:t>
            </a:r>
            <a:endParaRPr lang="en-US" sz="788" dirty="0"/>
          </a:p>
        </p:txBody>
      </p:sp>
      <p:sp>
        <p:nvSpPr>
          <p:cNvPr id="74" name="Shape 66"/>
          <p:cNvSpPr/>
          <p:nvPr/>
        </p:nvSpPr>
        <p:spPr>
          <a:xfrm>
            <a:off x="6305392" y="3228894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67"/>
          <p:cNvSpPr/>
          <p:nvPr/>
        </p:nvSpPr>
        <p:spPr>
          <a:xfrm>
            <a:off x="6305392" y="3286043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시간성</a:t>
            </a:r>
            <a:endParaRPr lang="en-US" sz="788" dirty="0"/>
          </a:p>
        </p:txBody>
      </p:sp>
      <p:sp>
        <p:nvSpPr>
          <p:cNvPr id="76" name="Text 68"/>
          <p:cNvSpPr/>
          <p:nvPr/>
        </p:nvSpPr>
        <p:spPr>
          <a:xfrm>
            <a:off x="7181670" y="3286043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인증 시점만</a:t>
            </a:r>
            <a:endParaRPr lang="en-US" sz="788" dirty="0"/>
          </a:p>
        </p:txBody>
      </p:sp>
      <p:sp>
        <p:nvSpPr>
          <p:cNvPr id="77" name="Text 69"/>
          <p:cNvSpPr/>
          <p:nvPr/>
        </p:nvSpPr>
        <p:spPr>
          <a:xfrm>
            <a:off x="8277018" y="3286043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표시 X</a:t>
            </a:r>
            <a:endParaRPr lang="en-US" sz="788" dirty="0"/>
          </a:p>
        </p:txBody>
      </p:sp>
      <p:sp>
        <p:nvSpPr>
          <p:cNvPr id="78" name="Text 70"/>
          <p:cNvSpPr/>
          <p:nvPr/>
        </p:nvSpPr>
        <p:spPr>
          <a:xfrm>
            <a:off x="9372366" y="3286043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표시 X</a:t>
            </a:r>
            <a:endParaRPr lang="en-US" sz="788" dirty="0"/>
          </a:p>
        </p:txBody>
      </p:sp>
      <p:sp>
        <p:nvSpPr>
          <p:cNvPr id="79" name="Text 71"/>
          <p:cNvSpPr/>
          <p:nvPr/>
        </p:nvSpPr>
        <p:spPr>
          <a:xfrm>
            <a:off x="10467713" y="3286043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Gap 보정</a:t>
            </a:r>
            <a:endParaRPr lang="en-US" sz="788" dirty="0"/>
          </a:p>
        </p:txBody>
      </p:sp>
      <p:sp>
        <p:nvSpPr>
          <p:cNvPr id="80" name="Shape 72"/>
          <p:cNvSpPr/>
          <p:nvPr/>
        </p:nvSpPr>
        <p:spPr>
          <a:xfrm>
            <a:off x="6305392" y="3476538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" name="Text 73"/>
          <p:cNvSpPr/>
          <p:nvPr/>
        </p:nvSpPr>
        <p:spPr>
          <a:xfrm>
            <a:off x="6305392" y="3533687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88% 미인증</a:t>
            </a:r>
            <a:endParaRPr lang="en-US" sz="788" dirty="0"/>
          </a:p>
        </p:txBody>
      </p:sp>
      <p:sp>
        <p:nvSpPr>
          <p:cNvPr id="82" name="Text 74"/>
          <p:cNvSpPr/>
          <p:nvPr/>
        </p:nvSpPr>
        <p:spPr>
          <a:xfrm>
            <a:off x="7181670" y="3533687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정보 없음</a:t>
            </a:r>
            <a:endParaRPr lang="en-US" sz="788" dirty="0"/>
          </a:p>
        </p:txBody>
      </p:sp>
      <p:sp>
        <p:nvSpPr>
          <p:cNvPr id="83" name="Text 75"/>
          <p:cNvSpPr/>
          <p:nvPr/>
        </p:nvSpPr>
        <p:spPr>
          <a:xfrm>
            <a:off x="8277018" y="3533687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정보 없음</a:t>
            </a:r>
            <a:endParaRPr lang="en-US" sz="788" dirty="0"/>
          </a:p>
        </p:txBody>
      </p:sp>
      <p:sp>
        <p:nvSpPr>
          <p:cNvPr id="84" name="Text 76"/>
          <p:cNvSpPr/>
          <p:nvPr/>
        </p:nvSpPr>
        <p:spPr>
          <a:xfrm>
            <a:off x="9372366" y="3533687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정보 없음</a:t>
            </a:r>
            <a:endParaRPr lang="en-US" sz="788" dirty="0"/>
          </a:p>
        </p:txBody>
      </p:sp>
      <p:sp>
        <p:nvSpPr>
          <p:cNvPr id="85" name="Text 77"/>
          <p:cNvSpPr/>
          <p:nvPr/>
        </p:nvSpPr>
        <p:spPr>
          <a:xfrm>
            <a:off x="10467713" y="3533687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Hidden Gem</a:t>
            </a:r>
            <a:endParaRPr lang="en-US" sz="788" dirty="0"/>
          </a:p>
        </p:txBody>
      </p:sp>
      <p:sp>
        <p:nvSpPr>
          <p:cNvPr id="86" name="Shape 78"/>
          <p:cNvSpPr/>
          <p:nvPr/>
        </p:nvSpPr>
        <p:spPr>
          <a:xfrm>
            <a:off x="6305392" y="3724182"/>
            <a:ext cx="5181470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7" name="Text 79"/>
          <p:cNvSpPr/>
          <p:nvPr/>
        </p:nvSpPr>
        <p:spPr>
          <a:xfrm>
            <a:off x="6305392" y="3781330"/>
            <a:ext cx="8000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메뉴 위험도</a:t>
            </a:r>
            <a:endParaRPr lang="en-US" sz="788" dirty="0"/>
          </a:p>
        </p:txBody>
      </p:sp>
      <p:sp>
        <p:nvSpPr>
          <p:cNvPr id="88" name="Text 80"/>
          <p:cNvSpPr/>
          <p:nvPr/>
        </p:nvSpPr>
        <p:spPr>
          <a:xfrm>
            <a:off x="7181670" y="3781330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89" name="Text 81"/>
          <p:cNvSpPr/>
          <p:nvPr/>
        </p:nvSpPr>
        <p:spPr>
          <a:xfrm>
            <a:off x="8277018" y="3781330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90" name="Text 82"/>
          <p:cNvSpPr/>
          <p:nvPr/>
        </p:nvSpPr>
        <p:spPr>
          <a:xfrm>
            <a:off x="9372366" y="3781330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없음</a:t>
            </a:r>
            <a:endParaRPr lang="en-US" sz="788" dirty="0"/>
          </a:p>
        </p:txBody>
      </p:sp>
      <p:sp>
        <p:nvSpPr>
          <p:cNvPr id="91" name="Text 83"/>
          <p:cNvSpPr/>
          <p:nvPr/>
        </p:nvSpPr>
        <p:spPr>
          <a:xfrm>
            <a:off x="10467713" y="3781330"/>
            <a:ext cx="10381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매일 갱신</a:t>
            </a:r>
            <a:endParaRPr lang="en-US" sz="788" dirty="0"/>
          </a:p>
        </p:txBody>
      </p:sp>
      <p:sp>
        <p:nvSpPr>
          <p:cNvPr id="92" name="Shape 84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3" name="Text 85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94" name="Text 86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4868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203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1537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4872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8207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1541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4876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4868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8203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1537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4872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07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31541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4876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4868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8203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1537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4872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8207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1541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4876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4868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8203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91537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04872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18207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31541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76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64868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8203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1537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04872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18207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31541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44876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4868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78203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91537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04872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8207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31541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44876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64868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8203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1537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04872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18207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31541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44876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1981" y="85722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서비스와의 차별성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1981" y="1066773"/>
            <a:ext cx="1066773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데이터의 본질이 다릅니다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61981" y="1504912"/>
            <a:ext cx="1066773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식약처 식중독 지도와 식탐정 메뉴 가이드의 단위·메시지·개인화 비교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61981" y="1904952"/>
            <a:ext cx="5048124" cy="3143171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4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047724" y="2133547"/>
            <a:ext cx="447663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spc="2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EXISTING</a:t>
            </a:r>
            <a:endParaRPr lang="en-US" sz="788" dirty="0"/>
          </a:p>
        </p:txBody>
      </p:sp>
      <p:sp>
        <p:nvSpPr>
          <p:cNvPr id="56" name="Text 54"/>
          <p:cNvSpPr/>
          <p:nvPr/>
        </p:nvSpPr>
        <p:spPr>
          <a:xfrm>
            <a:off x="1047724" y="2324042"/>
            <a:ext cx="447663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식약처 식중독 예측 지도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1047724" y="2724082"/>
            <a:ext cx="4476638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Shape 56"/>
          <p:cNvSpPr/>
          <p:nvPr/>
        </p:nvSpPr>
        <p:spPr>
          <a:xfrm>
            <a:off x="6381590" y="1904952"/>
            <a:ext cx="5048124" cy="3143171"/>
          </a:xfrm>
          <a:prstGeom prst="roundRect">
            <a:avLst>
              <a:gd name="adj" fmla="val 4848"/>
            </a:avLst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203200" dist="50800" dir="5400000">
              <a:srgbClr val="16A34A">
                <a:alpha val="2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667333" y="2133547"/>
            <a:ext cx="4476638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8" b="1" spc="20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FOOD DETECTIVE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6667333" y="2324042"/>
            <a:ext cx="447663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 메뉴 가이드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6667333" y="2724082"/>
            <a:ext cx="4476638" cy="9525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810105" y="3343191"/>
            <a:ext cx="57148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047724" y="2952676"/>
            <a:ext cx="7619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단위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1904952" y="2952676"/>
            <a:ext cx="380990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전국 · 시도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6667333" y="2952676"/>
            <a:ext cx="7619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단위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7524562" y="2952676"/>
            <a:ext cx="380990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식당 · 메뉴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1047724" y="3428914"/>
            <a:ext cx="7619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메시지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1904952" y="3428914"/>
            <a:ext cx="380990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"오늘 경계 단계입니다"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6667333" y="3428914"/>
            <a:ext cx="7619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메시지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7524562" y="3428914"/>
            <a:ext cx="380990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"이 식당의 회덮밥은</a:t>
            </a:r>
            <a:endParaRPr lang="en-US" sz="97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피하세요"</a:t>
            </a:r>
            <a:endParaRPr lang="en-US" sz="975" dirty="0"/>
          </a:p>
        </p:txBody>
      </p:sp>
      <p:sp>
        <p:nvSpPr>
          <p:cNvPr id="71" name="Text 69"/>
          <p:cNvSpPr/>
          <p:nvPr/>
        </p:nvSpPr>
        <p:spPr>
          <a:xfrm>
            <a:off x="1047724" y="3905152"/>
            <a:ext cx="7619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개인화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1904952" y="3905152"/>
            <a:ext cx="380990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 국민 동일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6667333" y="3905152"/>
            <a:ext cx="7619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개인화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7524562" y="3905152"/>
            <a:ext cx="380990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위치·식당·메뉴별 맞춤</a:t>
            </a:r>
            <a:endParaRPr lang="en-US" sz="975" dirty="0"/>
          </a:p>
        </p:txBody>
      </p:sp>
      <p:sp>
        <p:nvSpPr>
          <p:cNvPr id="75" name="Text 73"/>
          <p:cNvSpPr/>
          <p:nvPr/>
        </p:nvSpPr>
        <p:spPr>
          <a:xfrm>
            <a:off x="1047724" y="4381390"/>
            <a:ext cx="7619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사용 빈도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1904952" y="4381390"/>
            <a:ext cx="380990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폭염 시즌만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6667333" y="4381390"/>
            <a:ext cx="76198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50" kern="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사용 빈도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7524562" y="4381390"/>
            <a:ext cx="380990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매일 점심·저녁</a:t>
            </a:r>
            <a:endParaRPr lang="en-US" sz="975" dirty="0"/>
          </a:p>
        </p:txBody>
      </p:sp>
      <p:sp>
        <p:nvSpPr>
          <p:cNvPr id="79" name="Shape 77"/>
          <p:cNvSpPr/>
          <p:nvPr/>
        </p:nvSpPr>
        <p:spPr>
          <a:xfrm>
            <a:off x="761981" y="5238619"/>
            <a:ext cx="10667733" cy="1047724"/>
          </a:xfrm>
          <a:prstGeom prst="roundRect">
            <a:avLst>
              <a:gd name="adj" fmla="val 1636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54000" dist="76200" dir="5400000">
              <a:srgbClr val="000000">
                <a:alpha val="2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952476" y="4952876"/>
            <a:ext cx="761981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BBF24">
                    <a:alpha val="18000"/>
                  </a:srgbClr>
                </a:solidFill>
                <a:latin typeface="Georgia, serif" pitchFamily="34" charset="0"/>
                <a:ea typeface="Georgia, serif" pitchFamily="34" charset="-122"/>
                <a:cs typeface="Georgia, serif" pitchFamily="34" charset="-120"/>
              </a:rPr>
              <a:t>“</a:t>
            </a:r>
            <a:endParaRPr lang="en-US" sz="6000" dirty="0"/>
          </a:p>
        </p:txBody>
      </p:sp>
      <p:sp>
        <p:nvSpPr>
          <p:cNvPr id="81" name="Text 79"/>
          <p:cNvSpPr/>
          <p:nvPr/>
        </p:nvSpPr>
        <p:spPr>
          <a:xfrm>
            <a:off x="1238219" y="5429114"/>
            <a:ext cx="5524362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"별점은 1,000만 원에 살 수 있지만,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 스코어는 살 수 없습니다."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7048324" y="5543411"/>
            <a:ext cx="123821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-50" kern="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70</a:t>
            </a:r>
            <a:pPr algn="ctr" indent="0" marL="0">
              <a:buNone/>
            </a:pPr>
            <a:r>
              <a:rPr lang="en-US" sz="1200" spc="-50" kern="0" dirty="0">
                <a:solidFill>
                  <a:srgbClr val="FFFFFF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2100" dirty="0"/>
          </a:p>
        </p:txBody>
      </p:sp>
      <p:sp>
        <p:nvSpPr>
          <p:cNvPr id="83" name="Text 81"/>
          <p:cNvSpPr/>
          <p:nvPr/>
        </p:nvSpPr>
        <p:spPr>
          <a:xfrm>
            <a:off x="7048324" y="5962501"/>
            <a:ext cx="123821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공공·공식 데이터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8457989" y="5714857"/>
            <a:ext cx="1904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8686583" y="5543411"/>
            <a:ext cx="123821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-50" kern="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30</a:t>
            </a:r>
            <a:pPr algn="ctr" indent="0" marL="0">
              <a:buNone/>
            </a:pPr>
            <a:r>
              <a:rPr lang="en-US" sz="1200" spc="-50" kern="0" dirty="0">
                <a:solidFill>
                  <a:srgbClr val="FFFFFF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2100" dirty="0"/>
          </a:p>
        </p:txBody>
      </p:sp>
      <p:sp>
        <p:nvSpPr>
          <p:cNvPr id="86" name="Text 84"/>
          <p:cNvSpPr/>
          <p:nvPr/>
        </p:nvSpPr>
        <p:spPr>
          <a:xfrm>
            <a:off x="8686583" y="5962501"/>
            <a:ext cx="123821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합법 라이선스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096248" y="5714857"/>
            <a:ext cx="1904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=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10324842" y="5543411"/>
            <a:ext cx="123821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-50" kern="0" dirty="0">
                <a:solidFill>
                  <a:srgbClr val="FBBF2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</a:t>
            </a:r>
            <a:pPr algn="ctr" indent="0" marL="0">
              <a:buNone/>
            </a:pPr>
            <a:r>
              <a:rPr lang="en-US" sz="1200" spc="-50" kern="0" dirty="0">
                <a:solidFill>
                  <a:srgbClr val="FBBF24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2100" dirty="0"/>
          </a:p>
        </p:txBody>
      </p:sp>
      <p:sp>
        <p:nvSpPr>
          <p:cNvPr id="89" name="Text 87"/>
          <p:cNvSpPr/>
          <p:nvPr/>
        </p:nvSpPr>
        <p:spPr>
          <a:xfrm>
            <a:off x="10324842" y="5962501"/>
            <a:ext cx="123821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매수 가능 영역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1" name="Text 89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4868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203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1537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4872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82070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15417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48764" y="95247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4868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8203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1537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4872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070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315417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48764" y="108582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4868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8203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1537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4872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82070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15417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48764" y="121917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4868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8203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91537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04872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182070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315417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764" y="135251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64868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8203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1537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04872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182070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315417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448764" y="1485863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4868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78203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91537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04872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182070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315417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448764" y="1619210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64868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8203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1537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04872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182070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315417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448764" y="1752556"/>
            <a:ext cx="38099" cy="38099"/>
          </a:xfrm>
          <a:prstGeom prst="ellipse">
            <a:avLst/>
          </a:prstGeom>
          <a:solidFill>
            <a:srgbClr val="22C55E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33387" y="857229"/>
            <a:ext cx="41908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창업·사업화 및 발전 가능성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3387" y="1066773"/>
            <a:ext cx="11124922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시장 기회 — 왜 지금인가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33387" y="1504912"/>
            <a:ext cx="11124922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B2G 검증 매출 · B2B 자영업자 참여 수익 · 장기 데이터 자산화 — 3축 전략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33387" y="1904952"/>
            <a:ext cx="3543211" cy="361941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33387" y="1904952"/>
            <a:ext cx="3543211" cy="38099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761981" y="2114497"/>
            <a:ext cx="308602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00" kern="0" dirty="0">
                <a:solidFill>
                  <a:srgbClr val="15803D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B2G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761981" y="2343091"/>
            <a:ext cx="3086023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출시 초기의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검증 매출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761981" y="2990775"/>
            <a:ext cx="3086023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서울시·자치구는 이미 위생 캠페인 예산을 보유하고 있지만 시민 도달률이 낮습니다. 식탐정은 이 한계를 메우는 </a:t>
            </a:r>
            <a:pPr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공공 검증 채널</a:t>
            </a:r>
            <a:pPr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됩니다.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8179" y="4076598"/>
            <a:ext cx="293362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서울시·자치구 위생 데이터 가공 협력</a:t>
            </a:r>
            <a:endParaRPr lang="en-US" sz="825" dirty="0"/>
          </a:p>
        </p:txBody>
      </p:sp>
      <p:sp>
        <p:nvSpPr>
          <p:cNvPr id="60" name="Shape 58"/>
          <p:cNvSpPr/>
          <p:nvPr/>
        </p:nvSpPr>
        <p:spPr>
          <a:xfrm>
            <a:off x="761981" y="4362341"/>
            <a:ext cx="3086023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838179" y="4438539"/>
            <a:ext cx="293362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위생등급 활성화 캠페인 운영 대행</a:t>
            </a:r>
            <a:endParaRPr lang="en-US" sz="825" dirty="0"/>
          </a:p>
        </p:txBody>
      </p:sp>
      <p:sp>
        <p:nvSpPr>
          <p:cNvPr id="62" name="Shape 60"/>
          <p:cNvSpPr/>
          <p:nvPr/>
        </p:nvSpPr>
        <p:spPr>
          <a:xfrm>
            <a:off x="761981" y="4724282"/>
            <a:ext cx="3086023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838179" y="4800480"/>
            <a:ext cx="293362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자치구별 식중독 예방 정책 데이터 제공</a:t>
            </a:r>
            <a:endParaRPr lang="en-US" sz="825" dirty="0"/>
          </a:p>
        </p:txBody>
      </p:sp>
      <p:sp>
        <p:nvSpPr>
          <p:cNvPr id="64" name="Shape 62"/>
          <p:cNvSpPr/>
          <p:nvPr/>
        </p:nvSpPr>
        <p:spPr>
          <a:xfrm>
            <a:off x="4248044" y="1904952"/>
            <a:ext cx="3543211" cy="361941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248044" y="1904952"/>
            <a:ext cx="3543211" cy="38099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6" name="Text 64"/>
          <p:cNvSpPr/>
          <p:nvPr/>
        </p:nvSpPr>
        <p:spPr>
          <a:xfrm>
            <a:off x="4476638" y="2114497"/>
            <a:ext cx="308602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00" kern="0" dirty="0">
                <a:solidFill>
                  <a:srgbClr val="D9770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B2B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4476638" y="2343091"/>
            <a:ext cx="3086023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자영업자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참여형 수익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4476638" y="2990775"/>
            <a:ext cx="3086023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위생등급 미취득 88% 식당의 영세·중소 자영업자가 핵심 고객. 만석닭강정 매출 회복 사례처럼 </a:t>
            </a:r>
            <a:pPr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개선 = 매출</a:t>
            </a:r>
            <a:pPr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임을 증명한 사장님이 적극적 참여자가 됩니다.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552836" y="4076598"/>
            <a:ext cx="293362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사장님 프리미엄 인증 구독 (월 정액)</a:t>
            </a:r>
            <a:endParaRPr lang="en-US" sz="825" dirty="0"/>
          </a:p>
        </p:txBody>
      </p:sp>
      <p:sp>
        <p:nvSpPr>
          <p:cNvPr id="70" name="Shape 68"/>
          <p:cNvSpPr/>
          <p:nvPr/>
        </p:nvSpPr>
        <p:spPr>
          <a:xfrm>
            <a:off x="4476638" y="4362341"/>
            <a:ext cx="3086023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Text 69"/>
          <p:cNvSpPr/>
          <p:nvPr/>
        </p:nvSpPr>
        <p:spPr>
          <a:xfrm>
            <a:off x="4552836" y="4438539"/>
            <a:ext cx="293362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디지털 치즈 배지 매장 부착 옵션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4476638" y="4724282"/>
            <a:ext cx="3086023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71"/>
          <p:cNvSpPr/>
          <p:nvPr/>
        </p:nvSpPr>
        <p:spPr>
          <a:xfrm>
            <a:off x="4552836" y="4800480"/>
            <a:ext cx="293362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위생용품·컨설팅 업체 연결</a:t>
            </a:r>
            <a:endParaRPr lang="en-US" sz="825" dirty="0"/>
          </a:p>
        </p:txBody>
      </p:sp>
      <p:sp>
        <p:nvSpPr>
          <p:cNvPr id="74" name="Shape 72"/>
          <p:cNvSpPr/>
          <p:nvPr/>
        </p:nvSpPr>
        <p:spPr>
          <a:xfrm>
            <a:off x="7962701" y="1904952"/>
            <a:ext cx="3543211" cy="361941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F172A">
                <a:alpha val="4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7962701" y="1904952"/>
            <a:ext cx="3543211" cy="38099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6" name="Text 74"/>
          <p:cNvSpPr/>
          <p:nvPr/>
        </p:nvSpPr>
        <p:spPr>
          <a:xfrm>
            <a:off x="8191295" y="2114497"/>
            <a:ext cx="308602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200" kern="0" dirty="0">
                <a:solidFill>
                  <a:srgbClr val="C2410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DATA</a:t>
            </a:r>
            <a:endParaRPr lang="en-US" sz="825" dirty="0"/>
          </a:p>
        </p:txBody>
      </p:sp>
      <p:sp>
        <p:nvSpPr>
          <p:cNvPr id="77" name="Text 75"/>
          <p:cNvSpPr/>
          <p:nvPr/>
        </p:nvSpPr>
        <p:spPr>
          <a:xfrm>
            <a:off x="8191295" y="2343091"/>
            <a:ext cx="3086023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장기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자산화 비전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8191295" y="2990775"/>
            <a:ext cx="3086023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식탐정이 누적하는 </a:t>
            </a:r>
            <a:pPr indent="0" marL="0">
              <a:lnSpc>
                <a:spcPct val="165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시간별 위생 점수·메뉴 위험도 데이터</a:t>
            </a:r>
            <a:pPr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는 시간이 갈수록 가치가 커지는 자산입니다.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267493" y="4076598"/>
            <a:ext cx="293362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식중독 책임보험사 데이터 제휴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8191295" y="4362341"/>
            <a:ext cx="3086023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" name="Text 79"/>
          <p:cNvSpPr/>
          <p:nvPr/>
        </p:nvSpPr>
        <p:spPr>
          <a:xfrm>
            <a:off x="8267493" y="4438539"/>
            <a:ext cx="293362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식자재 유통사 위생 리스크 평가 협업</a:t>
            </a:r>
            <a:endParaRPr lang="en-US" sz="825" dirty="0"/>
          </a:p>
        </p:txBody>
      </p:sp>
      <p:sp>
        <p:nvSpPr>
          <p:cNvPr id="82" name="Shape 80"/>
          <p:cNvSpPr/>
          <p:nvPr/>
        </p:nvSpPr>
        <p:spPr>
          <a:xfrm>
            <a:off x="8191295" y="4724282"/>
            <a:ext cx="3086023" cy="476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3" name="Text 81"/>
          <p:cNvSpPr/>
          <p:nvPr/>
        </p:nvSpPr>
        <p:spPr>
          <a:xfrm>
            <a:off x="8267493" y="4800480"/>
            <a:ext cx="293362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글로벌 식품 안전 시장 데이터 라이선싱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5" name="Text 83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식탐정 — 출품작 핵심내용</dc:title>
  <dc:subject>PptxGenJS Presentation</dc:subject>
  <dc:creator>식탐정</dc:creator>
  <cp:lastModifiedBy>식탐정</cp:lastModifiedBy>
  <cp:revision>1</cp:revision>
  <dcterms:created xsi:type="dcterms:W3CDTF">2026-05-13T05:59:45Z</dcterms:created>
  <dcterms:modified xsi:type="dcterms:W3CDTF">2026-05-13T05:59:45Z</dcterms:modified>
</cp:coreProperties>
</file>